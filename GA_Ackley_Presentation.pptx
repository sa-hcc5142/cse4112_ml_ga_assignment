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768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19659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91440"/>
            <a:ext cx="121889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0D1B3E"/>
                </a:solidFill>
                <a:latin typeface="Bierstadt" panose="020B0004020202020204" pitchFamily="34" charset="0"/>
              </a:rPr>
              <a:t>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745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>
                <a:solidFill>
                  <a:srgbClr val="FFFFFF"/>
                </a:solidFill>
                <a:latin typeface="Bierstadt" panose="020B0004020202020204" pitchFamily="34" charset="0"/>
              </a:rPr>
              <a:t>Finding the Global Minima of the 2D Ackley Function
Using Genetic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121408"/>
            <a:ext cx="1218895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C107"/>
                </a:solidFill>
                <a:latin typeface="Bierstadt" panose="020B0004020202020204" pitchFamily="34" charset="0"/>
              </a:rPr>
              <a:t>Course No: CSE 4111 — Machine Learning Lab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578608"/>
            <a:ext cx="9445752" cy="228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2706624"/>
            <a:ext cx="5486400" cy="3090672"/>
          </a:xfrm>
          <a:prstGeom prst="rect">
            <a:avLst/>
          </a:prstGeom>
          <a:solidFill>
            <a:srgbClr val="11254E"/>
          </a:solidFill>
          <a:ln w="1270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Bierstadt" panose="020B00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00D4FF"/>
                </a:solidFill>
                <a:latin typeface="Bierstadt" panose="020B0004020202020204" pitchFamily="34" charset="0"/>
              </a:rPr>
              <a:t>Submitted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18688"/>
            <a:ext cx="512064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dirty="0">
                <a:solidFill>
                  <a:srgbClr val="CCD6E0"/>
                </a:solidFill>
                <a:latin typeface="Bierstadt" panose="020B0004020202020204" pitchFamily="34" charset="0"/>
              </a:rPr>
              <a:t>Faisal Ahmed                  </a:t>
            </a:r>
            <a:r>
              <a:rPr lang="en-US" sz="1350" dirty="0">
                <a:solidFill>
                  <a:srgbClr val="CCD6E0"/>
                </a:solidFill>
                <a:latin typeface="Bierstadt" panose="020B0004020202020204" pitchFamily="34" charset="0"/>
              </a:rPr>
              <a:t>	</a:t>
            </a:r>
            <a:r>
              <a:rPr sz="1350" b="0" dirty="0">
                <a:solidFill>
                  <a:srgbClr val="CCD6E0"/>
                </a:solidFill>
                <a:latin typeface="Bierstadt" panose="020B0004020202020204" pitchFamily="34" charset="0"/>
              </a:rPr>
              <a:t> </a:t>
            </a:r>
            <a:r>
              <a:rPr lang="en-US" sz="1350" b="0" dirty="0">
                <a:solidFill>
                  <a:srgbClr val="CCD6E0"/>
                </a:solidFill>
                <a:latin typeface="Bierstadt" panose="020B0004020202020204" pitchFamily="34" charset="0"/>
              </a:rPr>
              <a:t>	</a:t>
            </a:r>
            <a:r>
              <a:rPr sz="1350" b="0" dirty="0">
                <a:solidFill>
                  <a:srgbClr val="CCD6E0"/>
                </a:solidFill>
                <a:latin typeface="Bierstadt" panose="020B0004020202020204" pitchFamily="34" charset="0"/>
              </a:rPr>
              <a:t>–  2107061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75887"/>
            <a:ext cx="512064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dirty="0">
                <a:solidFill>
                  <a:srgbClr val="CCD6E0"/>
                </a:solidFill>
                <a:latin typeface="Bierstadt" panose="020B0004020202020204" pitchFamily="34" charset="0"/>
              </a:rPr>
              <a:t>Sumaiya Akter                 </a:t>
            </a:r>
            <a:r>
              <a:rPr lang="en-US" sz="1350" b="0" dirty="0">
                <a:solidFill>
                  <a:srgbClr val="CCD6E0"/>
                </a:solidFill>
                <a:latin typeface="Bierstadt" panose="020B0004020202020204" pitchFamily="34" charset="0"/>
              </a:rPr>
              <a:t>	 	</a:t>
            </a:r>
            <a:r>
              <a:rPr sz="1350" b="0" dirty="0">
                <a:solidFill>
                  <a:srgbClr val="CCD6E0"/>
                </a:solidFill>
                <a:latin typeface="Bierstadt" panose="020B0004020202020204" pitchFamily="34" charset="0"/>
              </a:rPr>
              <a:t>–  2107080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33087"/>
            <a:ext cx="512064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dirty="0">
                <a:solidFill>
                  <a:srgbClr val="CCD6E0"/>
                </a:solidFill>
                <a:latin typeface="Bierstadt" panose="020B0004020202020204" pitchFamily="34" charset="0"/>
              </a:rPr>
              <a:t>Asique </a:t>
            </a:r>
            <a:r>
              <a:rPr sz="1350" b="0" dirty="0" err="1">
                <a:solidFill>
                  <a:srgbClr val="CCD6E0"/>
                </a:solidFill>
                <a:latin typeface="Bierstadt" panose="020B0004020202020204" pitchFamily="34" charset="0"/>
              </a:rPr>
              <a:t>Ehetasamul</a:t>
            </a:r>
            <a:r>
              <a:rPr sz="1350" b="0" dirty="0">
                <a:solidFill>
                  <a:srgbClr val="CCD6E0"/>
                </a:solidFill>
                <a:latin typeface="Bierstadt" panose="020B0004020202020204" pitchFamily="34" charset="0"/>
              </a:rPr>
              <a:t> Haque  </a:t>
            </a:r>
            <a:r>
              <a:rPr lang="en-US" sz="1350" b="0" dirty="0">
                <a:solidFill>
                  <a:srgbClr val="CCD6E0"/>
                </a:solidFill>
                <a:latin typeface="Bierstadt" panose="020B0004020202020204" pitchFamily="34" charset="0"/>
              </a:rPr>
              <a:t>	</a:t>
            </a:r>
            <a:r>
              <a:rPr sz="1350" b="0" dirty="0">
                <a:solidFill>
                  <a:srgbClr val="CCD6E0"/>
                </a:solidFill>
                <a:latin typeface="Bierstadt" panose="020B0004020202020204" pitchFamily="34" charset="0"/>
              </a:rPr>
              <a:t>–  2107096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90288"/>
            <a:ext cx="512064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dirty="0">
                <a:solidFill>
                  <a:srgbClr val="CCD6E0"/>
                </a:solidFill>
                <a:latin typeface="Bierstadt" panose="020B0004020202020204" pitchFamily="34" charset="0"/>
              </a:rPr>
              <a:t>Nure Alam </a:t>
            </a:r>
            <a:r>
              <a:rPr sz="1350" b="0" dirty="0" err="1">
                <a:solidFill>
                  <a:srgbClr val="CCD6E0"/>
                </a:solidFill>
                <a:latin typeface="Bierstadt" panose="020B0004020202020204" pitchFamily="34" charset="0"/>
              </a:rPr>
              <a:t>Siddiki</a:t>
            </a:r>
            <a:r>
              <a:rPr sz="1350" b="0" dirty="0">
                <a:solidFill>
                  <a:srgbClr val="CCD6E0"/>
                </a:solidFill>
                <a:latin typeface="Bierstadt" panose="020B0004020202020204" pitchFamily="34" charset="0"/>
              </a:rPr>
              <a:t> Prince   </a:t>
            </a:r>
            <a:r>
              <a:rPr lang="en-US" sz="1350" b="0" dirty="0">
                <a:solidFill>
                  <a:srgbClr val="CCD6E0"/>
                </a:solidFill>
                <a:latin typeface="Bierstadt" panose="020B0004020202020204" pitchFamily="34" charset="0"/>
              </a:rPr>
              <a:t>	</a:t>
            </a:r>
            <a:r>
              <a:rPr sz="1350" b="0" dirty="0">
                <a:solidFill>
                  <a:srgbClr val="CCD6E0"/>
                </a:solidFill>
                <a:latin typeface="Bierstadt" panose="020B0004020202020204" pitchFamily="34" charset="0"/>
              </a:rPr>
              <a:t>–  2107110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47488"/>
            <a:ext cx="512064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dirty="0">
                <a:solidFill>
                  <a:srgbClr val="CCD6E0"/>
                </a:solidFill>
                <a:latin typeface="Bierstadt" panose="020B0004020202020204" pitchFamily="34" charset="0"/>
              </a:rPr>
              <a:t>Niloy Chowdhury              </a:t>
            </a:r>
            <a:r>
              <a:rPr lang="en-US" sz="1350" b="0" dirty="0">
                <a:solidFill>
                  <a:srgbClr val="CCD6E0"/>
                </a:solidFill>
                <a:latin typeface="Bierstadt" panose="020B0004020202020204" pitchFamily="34" charset="0"/>
              </a:rPr>
              <a:t>		</a:t>
            </a:r>
            <a:r>
              <a:rPr sz="1350" b="0" dirty="0">
                <a:solidFill>
                  <a:srgbClr val="CCD6E0"/>
                </a:solidFill>
                <a:latin typeface="Bierstadt" panose="020B0004020202020204" pitchFamily="34" charset="0"/>
              </a:rPr>
              <a:t>–  2107117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706624"/>
            <a:ext cx="5577840" cy="3090672"/>
          </a:xfrm>
          <a:prstGeom prst="rect">
            <a:avLst/>
          </a:prstGeom>
          <a:solidFill>
            <a:srgbClr val="11254E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55080" y="2779776"/>
            <a:ext cx="5303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FFFF00"/>
                </a:solidFill>
                <a:latin typeface="Bierstadt" panose="020B0004020202020204" pitchFamily="34" charset="0"/>
              </a:rPr>
              <a:t>Submitted 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218688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Bierstadt" panose="020B0004020202020204" pitchFamily="34" charset="0"/>
              </a:rPr>
              <a:t>Dr. Al-Mahmud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691276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CCD6E0"/>
                </a:solidFill>
                <a:latin typeface="Bierstadt" panose="020B0004020202020204" pitchFamily="34" charset="0"/>
              </a:rPr>
              <a:t>Professor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133087"/>
            <a:ext cx="53035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CCD6E0"/>
                </a:solidFill>
                <a:latin typeface="Bierstadt" panose="020B0004020202020204" pitchFamily="34" charset="0"/>
              </a:rPr>
              <a:t>Dept. of Computer Science and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448570"/>
            <a:ext cx="5303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CD6E0"/>
                </a:solidFill>
                <a:latin typeface="Bierstadt" panose="020B0004020202020204" pitchFamily="34" charset="0"/>
              </a:rPr>
              <a:t>Khulna University of Engineering &amp; Technology (KUET)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594592" y="6473952"/>
            <a:ext cx="502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B8C8"/>
                </a:solidFill>
                <a:latin typeface="Bierstadt" panose="020B0004020202020204" pitchFamily="34" charset="0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09728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1704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Bierstadt" panose="020B0004020202020204" pitchFamily="34" charset="0"/>
              </a:rPr>
              <a:t>The Ackley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94360"/>
            <a:ext cx="1170432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0B8C8"/>
                </a:solidFill>
                <a:latin typeface="Bierstadt" panose="020B0004020202020204" pitchFamily="34" charset="0"/>
              </a:rPr>
              <a:t>Our optimization landscape — a highly multimodal 2D surface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68680"/>
            <a:ext cx="11731752" cy="1828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11457432" cy="1280160"/>
          </a:xfrm>
          <a:prstGeom prst="rect">
            <a:avLst/>
          </a:prstGeom>
          <a:solidFill>
            <a:srgbClr val="0A0F26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078992"/>
            <a:ext cx="110916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00D4FF"/>
                </a:solidFill>
                <a:latin typeface="Bierstadt" panose="020B0004020202020204" pitchFamily="34" charset="0"/>
              </a:rPr>
              <a:t>f(x₁, x₂)  =  -20·exp(-0.2·√(0.5(x₁²+x₂²)))  -  exp(0.5(cos(2πx₁)+cos(2πx₂)))  +  20  +  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32304"/>
            <a:ext cx="3108960" cy="658368"/>
          </a:xfrm>
          <a:prstGeom prst="rect">
            <a:avLst/>
          </a:prstGeom>
          <a:solidFill>
            <a:srgbClr val="0A2042"/>
          </a:solidFill>
          <a:ln w="1016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2487168"/>
            <a:ext cx="2834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FFC107"/>
                </a:solidFill>
                <a:latin typeface="Bierstadt" panose="020B0004020202020204" pitchFamily="34" charset="0"/>
              </a:rPr>
              <a:t>Global Minimum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560320"/>
            <a:ext cx="81381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Bierstadt" panose="020B0004020202020204" pitchFamily="34" charset="0"/>
              </a:rPr>
              <a:t>f(0, 0) = 0.0  — the single deepest valley at the origin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00400"/>
            <a:ext cx="3108960" cy="658368"/>
          </a:xfrm>
          <a:prstGeom prst="rect">
            <a:avLst/>
          </a:prstGeom>
          <a:solidFill>
            <a:srgbClr val="0A2042"/>
          </a:solidFill>
          <a:ln w="1016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3255264"/>
            <a:ext cx="2834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107"/>
                </a:solidFill>
                <a:latin typeface="Bierstadt" panose="020B0004020202020204" pitchFamily="34" charset="0"/>
              </a:rPr>
              <a:t>Search 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328416"/>
            <a:ext cx="81381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Bierstadt" panose="020B0004020202020204" pitchFamily="34" charset="0"/>
              </a:rPr>
              <a:t>x₁, x₂ ∈ [-5.0, 5.0]  (bounded 2D continuous domain)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68496"/>
            <a:ext cx="3108960" cy="658368"/>
          </a:xfrm>
          <a:prstGeom prst="rect">
            <a:avLst/>
          </a:prstGeom>
          <a:solidFill>
            <a:srgbClr val="0A2042"/>
          </a:solidFill>
          <a:ln w="1016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4023360"/>
            <a:ext cx="2834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107"/>
                </a:solidFill>
                <a:latin typeface="Bierstadt" panose="020B0004020202020204" pitchFamily="34" charset="0"/>
              </a:rPr>
              <a:t>Challenge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096512"/>
            <a:ext cx="81381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Bierstadt" panose="020B0004020202020204" pitchFamily="34" charset="0"/>
              </a:rPr>
              <a:t>Hundreds of local minima trap gradient-descent; GA searches globally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736592"/>
            <a:ext cx="3108960" cy="658368"/>
          </a:xfrm>
          <a:prstGeom prst="rect">
            <a:avLst/>
          </a:prstGeom>
          <a:solidFill>
            <a:srgbClr val="0A2042"/>
          </a:solidFill>
          <a:ln w="1016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4791456"/>
            <a:ext cx="2834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107"/>
                </a:solidFill>
                <a:latin typeface="Bierstadt" panose="020B0004020202020204" pitchFamily="34" charset="0"/>
              </a:rPr>
              <a:t>Why GA?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864608"/>
            <a:ext cx="81381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Bierstadt" panose="020B0004020202020204" pitchFamily="34" charset="0"/>
              </a:rPr>
              <a:t>Population-based search explores the whole space simultaneously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504688"/>
            <a:ext cx="3108960" cy="658368"/>
          </a:xfrm>
          <a:prstGeom prst="rect">
            <a:avLst/>
          </a:prstGeom>
          <a:solidFill>
            <a:srgbClr val="0A2042"/>
          </a:solidFill>
          <a:ln w="1016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5559552"/>
            <a:ext cx="2834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107"/>
                </a:solidFill>
                <a:latin typeface="Bierstadt" panose="020B0004020202020204" pitchFamily="34" charset="0"/>
              </a:rPr>
              <a:t>Ackley Parameters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632704"/>
            <a:ext cx="81381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Bierstadt" panose="020B0004020202020204" pitchFamily="34" charset="0"/>
              </a:rPr>
              <a:t>a = 20.0,  b = 0.2,  c = 2π  (standard recommended values)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94592" y="6473952"/>
            <a:ext cx="502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B8C8"/>
                </a:solidFill>
                <a:latin typeface="Bierstadt" panose="020B0004020202020204" pitchFamily="34" charset="0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09728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1704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Bierstadt" panose="020B0004020202020204" pitchFamily="34" charset="0"/>
              </a:rPr>
              <a:t>Genetic Algorithm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94360"/>
            <a:ext cx="1170432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0B8C8"/>
                </a:solidFill>
                <a:latin typeface="Bierstadt" panose="020B0004020202020204" pitchFamily="34" charset="0"/>
              </a:rPr>
              <a:t>8 sequential steps to evolve the global minimum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68680"/>
            <a:ext cx="11731752" cy="1828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2608" y="1051560"/>
            <a:ext cx="2834640" cy="1051560"/>
          </a:xfrm>
          <a:prstGeom prst="rect">
            <a:avLst/>
          </a:prstGeom>
          <a:solidFill>
            <a:srgbClr val="0A2042"/>
          </a:solidFill>
          <a:ln w="1905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92608" y="1051560"/>
            <a:ext cx="384048" cy="10515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2608" y="1353312"/>
            <a:ext cx="3840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3E"/>
                </a:solidFill>
                <a:latin typeface="Bierstadt" panose="020B0004020202020204" pitchFamily="34" charset="0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115568"/>
            <a:ext cx="231343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6B87"/>
                </a:solidFill>
                <a:latin typeface="Bierstadt" panose="020B0004020202020204" pitchFamily="34" charset="0"/>
              </a:rPr>
              <a:t>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481328"/>
            <a:ext cx="231343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0"/>
                </a:solidFill>
                <a:latin typeface="Bierstadt" panose="020B0004020202020204" pitchFamily="34" charset="0"/>
              </a:rPr>
              <a:t>GA_PARAMS: pop=50, gens=100, Pc=80%, Pm=5%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4408" y="1051560"/>
            <a:ext cx="2834640" cy="1051560"/>
          </a:xfrm>
          <a:prstGeom prst="rect">
            <a:avLst/>
          </a:prstGeom>
          <a:solidFill>
            <a:srgbClr val="0A2042"/>
          </a:solidFill>
          <a:ln w="1905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64408" y="1051560"/>
            <a:ext cx="384048" cy="10515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64408" y="1353312"/>
            <a:ext cx="3840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3E"/>
                </a:solidFill>
                <a:latin typeface="Bierstadt" panose="020B0004020202020204" pitchFamily="34" charset="0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1115568"/>
            <a:ext cx="231343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6B87"/>
                </a:solidFill>
                <a:latin typeface="Bierstadt" panose="020B0004020202020204" pitchFamily="34" charset="0"/>
              </a:rPr>
              <a:t>Chromosome Init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608" y="1481328"/>
            <a:ext cx="231343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0"/>
                </a:solidFill>
                <a:latin typeface="Bierstadt" panose="020B0004020202020204" pitchFamily="34" charset="0"/>
              </a:rPr>
              <a:t>50 random [x₁,x₂] chromosomes (Generation 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1051560"/>
            <a:ext cx="2834640" cy="1051560"/>
          </a:xfrm>
          <a:prstGeom prst="rect">
            <a:avLst/>
          </a:prstGeom>
          <a:solidFill>
            <a:srgbClr val="0A2042"/>
          </a:solidFill>
          <a:ln w="1905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36208" y="1051560"/>
            <a:ext cx="384048" cy="10515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36208" y="1353312"/>
            <a:ext cx="3840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3E"/>
                </a:solidFill>
                <a:latin typeface="Bierstadt" panose="020B0004020202020204" pitchFamily="34" charset="0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8" y="1115568"/>
            <a:ext cx="231343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6B87"/>
                </a:solidFill>
                <a:latin typeface="Bierstadt" panose="020B0004020202020204" pitchFamily="34" charset="0"/>
              </a:rPr>
              <a:t>Fitness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1481328"/>
            <a:ext cx="231343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0"/>
                </a:solidFill>
                <a:latin typeface="Bierstadt" panose="020B0004020202020204" pitchFamily="34" charset="0"/>
              </a:rPr>
              <a:t>Compute Ackley f(x₁,x₂) for every individual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08008" y="1051560"/>
            <a:ext cx="2834640" cy="1051560"/>
          </a:xfrm>
          <a:prstGeom prst="rect">
            <a:avLst/>
          </a:prstGeom>
          <a:solidFill>
            <a:srgbClr val="0A2042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208008" y="1051560"/>
            <a:ext cx="384048" cy="10515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208008" y="1353312"/>
            <a:ext cx="3840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3E"/>
                </a:solidFill>
                <a:latin typeface="Bierstadt" panose="020B0004020202020204" pitchFamily="34" charset="0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65208" y="1115568"/>
            <a:ext cx="231343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107"/>
                </a:solidFill>
                <a:latin typeface="Bierstadt" panose="020B0004020202020204" pitchFamily="34" charset="0"/>
              </a:rPr>
              <a:t>Roulette Selection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65208" y="1481328"/>
            <a:ext cx="231343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0"/>
                </a:solidFill>
                <a:latin typeface="Bierstadt" panose="020B0004020202020204" pitchFamily="34" charset="0"/>
              </a:rPr>
              <a:t>Lower f → bigger slice → more likely as parent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" y="2304288"/>
            <a:ext cx="2834640" cy="1051560"/>
          </a:xfrm>
          <a:prstGeom prst="rect">
            <a:avLst/>
          </a:prstGeom>
          <a:solidFill>
            <a:srgbClr val="0A2042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92608" y="2304288"/>
            <a:ext cx="384048" cy="10515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92608" y="2606040"/>
            <a:ext cx="3840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3E"/>
                </a:solidFill>
                <a:latin typeface="Bierstadt" panose="020B0004020202020204" pitchFamily="34" charset="0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2368296"/>
            <a:ext cx="231343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107"/>
                </a:solidFill>
                <a:latin typeface="Bierstadt" panose="020B0004020202020204" pitchFamily="34" charset="0"/>
              </a:rPr>
              <a:t>1-Point Crossover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2734056"/>
            <a:ext cx="231343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0"/>
                </a:solidFill>
                <a:latin typeface="Bierstadt" panose="020B0004020202020204" pitchFamily="34" charset="0"/>
              </a:rPr>
              <a:t>Swap x₂ genes between pairs (Pc = 80%)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4408" y="2304288"/>
            <a:ext cx="2834640" cy="1051560"/>
          </a:xfrm>
          <a:prstGeom prst="rect">
            <a:avLst/>
          </a:prstGeom>
          <a:solidFill>
            <a:srgbClr val="0A2042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264408" y="2304288"/>
            <a:ext cx="384048" cy="10515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264408" y="2606040"/>
            <a:ext cx="3840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3E"/>
                </a:solidFill>
                <a:latin typeface="Bierstadt" panose="020B0004020202020204" pitchFamily="34" charset="0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21608" y="2368296"/>
            <a:ext cx="231343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107"/>
                </a:solidFill>
                <a:latin typeface="Bierstadt" panose="020B0004020202020204" pitchFamily="34" charset="0"/>
              </a:rPr>
              <a:t>Gaussian Mutation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21608" y="2734056"/>
            <a:ext cx="231343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0"/>
                </a:solidFill>
                <a:latin typeface="Bierstadt" panose="020B0004020202020204" pitchFamily="34" charset="0"/>
              </a:rPr>
              <a:t>Nudge each gene with ±N(0,0.5) noise (Pm = 5%)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36208" y="2304288"/>
            <a:ext cx="2834640" cy="1051560"/>
          </a:xfrm>
          <a:prstGeom prst="rect">
            <a:avLst/>
          </a:prstGeom>
          <a:solidFill>
            <a:srgbClr val="0A2042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236208" y="2304288"/>
            <a:ext cx="384048" cy="105156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236208" y="2606040"/>
            <a:ext cx="3840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3E"/>
                </a:solidFill>
                <a:latin typeface="Bierstadt" panose="020B0004020202020204" pitchFamily="34" charset="0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3408" y="2368296"/>
            <a:ext cx="231343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  <a:latin typeface="Bierstadt" panose="020B0004020202020204" pitchFamily="34" charset="0"/>
              </a:rPr>
              <a:t>Elitism Carry-over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93408" y="2734056"/>
            <a:ext cx="231343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0"/>
                </a:solidFill>
                <a:latin typeface="Bierstadt" panose="020B0004020202020204" pitchFamily="34" charset="0"/>
              </a:rPr>
              <a:t>Best-ever chromosome guaranteed in next generation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08008" y="2304288"/>
            <a:ext cx="2834640" cy="1051560"/>
          </a:xfrm>
          <a:prstGeom prst="rect">
            <a:avLst/>
          </a:prstGeom>
          <a:solidFill>
            <a:srgbClr val="0A2042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9208008" y="2304288"/>
            <a:ext cx="384048" cy="105156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208008" y="2606040"/>
            <a:ext cx="3840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3E"/>
                </a:solidFill>
                <a:latin typeface="Bierstadt" panose="020B0004020202020204" pitchFamily="34" charset="0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65208" y="2368296"/>
            <a:ext cx="231343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  <a:latin typeface="Bierstadt" panose="020B0004020202020204" pitchFamily="34" charset="0"/>
              </a:rPr>
              <a:t>Loop ×100 gens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65208" y="2734056"/>
            <a:ext cx="231343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0"/>
                </a:solidFill>
                <a:latin typeface="Bierstadt" panose="020B0004020202020204" pitchFamily="34" charset="0"/>
              </a:rPr>
              <a:t>Repeat steps 3-7 until generation 100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" y="3951499"/>
            <a:ext cx="1218895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00D4FF"/>
                </a:solidFill>
                <a:latin typeface="Bierstadt" panose="020B0004020202020204" pitchFamily="34" charset="0"/>
              </a:rPr>
              <a:t>Repeat steps 3-7 each generation until generation 100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" y="4742386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rgbClr val="A0B8C8"/>
                </a:solidFill>
                <a:latin typeface="Bierstadt" panose="020B0004020202020204" pitchFamily="34" charset="0"/>
              </a:rPr>
              <a:t>Each step maps to one Python module in </a:t>
            </a:r>
            <a:r>
              <a:rPr sz="1100" b="0" dirty="0" err="1">
                <a:solidFill>
                  <a:srgbClr val="A0B8C8"/>
                </a:solidFill>
                <a:latin typeface="Bierstadt" panose="020B0004020202020204" pitchFamily="34" charset="0"/>
              </a:rPr>
              <a:t>src</a:t>
            </a:r>
            <a:r>
              <a:rPr sz="1100" b="0" dirty="0">
                <a:solidFill>
                  <a:srgbClr val="A0B8C8"/>
                </a:solidFill>
                <a:latin typeface="Bierstadt" panose="020B0004020202020204" pitchFamily="34" charset="0"/>
              </a:rPr>
              <a:t>/ -- implemented sequentially by the team.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94592" y="6473952"/>
            <a:ext cx="502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B8C8"/>
                </a:solidFill>
                <a:latin typeface="Bierstadt" panose="020B0004020202020204" pitchFamily="34" charset="0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09728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1704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Bierstadt" panose="020B0004020202020204" pitchFamily="34" charset="0"/>
              </a:rPr>
              <a:t>Step 1 — Configuration  |  src/config.py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61772"/>
            <a:ext cx="1170432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dirty="0">
                <a:solidFill>
                  <a:srgbClr val="A0B8C8"/>
                </a:solidFill>
                <a:latin typeface="Bierstadt" panose="020B0004020202020204" pitchFamily="34" charset="0"/>
              </a:rPr>
              <a:t>Single source of truth for all GA hyperparameters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6492240" cy="5166360"/>
          </a:xfrm>
          <a:prstGeom prst="rect">
            <a:avLst/>
          </a:prstGeom>
          <a:solidFill>
            <a:srgbClr val="0A0F26"/>
          </a:solidFill>
          <a:ln w="1270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749808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dirty="0">
                <a:solidFill>
                  <a:srgbClr val="00D4FF"/>
                </a:solidFill>
                <a:latin typeface="Courier New"/>
              </a:rPr>
              <a:t>  src/config.py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97280"/>
            <a:ext cx="6272784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7DD3FC"/>
                </a:solidFill>
                <a:latin typeface="Courier New"/>
              </a:rPr>
              <a:t>GA_PARAMS = {
    # Problem definition
    "</a:t>
            </a:r>
            <a:r>
              <a:rPr sz="1200" b="0" dirty="0" err="1">
                <a:solidFill>
                  <a:srgbClr val="7DD3FC"/>
                </a:solidFill>
                <a:latin typeface="Courier New"/>
              </a:rPr>
              <a:t>num_genes</a:t>
            </a:r>
            <a:r>
              <a:rPr sz="1200" b="0" dirty="0">
                <a:solidFill>
                  <a:srgbClr val="7DD3FC"/>
                </a:solidFill>
                <a:latin typeface="Courier New"/>
              </a:rPr>
              <a:t>"      : 2,            # chromosome = [x1, x2]
    "</a:t>
            </a:r>
            <a:r>
              <a:rPr sz="1200" b="0" dirty="0" err="1">
                <a:solidFill>
                  <a:srgbClr val="7DD3FC"/>
                </a:solidFill>
                <a:latin typeface="Courier New"/>
              </a:rPr>
              <a:t>gene_bounds</a:t>
            </a:r>
            <a:r>
              <a:rPr sz="1200" b="0" dirty="0">
                <a:solidFill>
                  <a:srgbClr val="7DD3FC"/>
                </a:solidFill>
                <a:latin typeface="Courier New"/>
              </a:rPr>
              <a:t>"    : (-5.0, 5.0),  # search space
    # Ackley parameters (recommended)
    "</a:t>
            </a:r>
            <a:r>
              <a:rPr sz="1200" b="0" dirty="0" err="1">
                <a:solidFill>
                  <a:srgbClr val="7DD3FC"/>
                </a:solidFill>
                <a:latin typeface="Courier New"/>
              </a:rPr>
              <a:t>ackley_a</a:t>
            </a:r>
            <a:r>
              <a:rPr sz="1200" b="0" dirty="0">
                <a:solidFill>
                  <a:srgbClr val="7DD3FC"/>
                </a:solidFill>
                <a:latin typeface="Courier New"/>
              </a:rPr>
              <a:t>"       : 20.0,
    "</a:t>
            </a:r>
            <a:r>
              <a:rPr sz="1200" b="0" dirty="0" err="1">
                <a:solidFill>
                  <a:srgbClr val="7DD3FC"/>
                </a:solidFill>
                <a:latin typeface="Courier New"/>
              </a:rPr>
              <a:t>ackley_b</a:t>
            </a:r>
            <a:r>
              <a:rPr sz="1200" b="0" dirty="0">
                <a:solidFill>
                  <a:srgbClr val="7DD3FC"/>
                </a:solidFill>
                <a:latin typeface="Courier New"/>
              </a:rPr>
              <a:t>"       : 0.2,
    "</a:t>
            </a:r>
            <a:r>
              <a:rPr sz="1200" b="0" dirty="0" err="1">
                <a:solidFill>
                  <a:srgbClr val="7DD3FC"/>
                </a:solidFill>
                <a:latin typeface="Courier New"/>
              </a:rPr>
              <a:t>ackley_c</a:t>
            </a:r>
            <a:r>
              <a:rPr sz="1200" b="0" dirty="0">
                <a:solidFill>
                  <a:srgbClr val="7DD3FC"/>
                </a:solidFill>
                <a:latin typeface="Courier New"/>
              </a:rPr>
              <a:t>"       : 2 * </a:t>
            </a:r>
            <a:r>
              <a:rPr sz="1200" b="0" dirty="0" err="1">
                <a:solidFill>
                  <a:srgbClr val="7DD3FC"/>
                </a:solidFill>
                <a:latin typeface="Courier New"/>
              </a:rPr>
              <a:t>math.pi</a:t>
            </a:r>
            <a:r>
              <a:rPr sz="1200" b="0" dirty="0">
                <a:solidFill>
                  <a:srgbClr val="7DD3FC"/>
                </a:solidFill>
                <a:latin typeface="Courier New"/>
              </a:rPr>
              <a:t>,
    # GA hyperparameters
    "</a:t>
            </a:r>
            <a:r>
              <a:rPr sz="1200" b="0" dirty="0" err="1">
                <a:solidFill>
                  <a:srgbClr val="7DD3FC"/>
                </a:solidFill>
                <a:latin typeface="Courier New"/>
              </a:rPr>
              <a:t>population_size</a:t>
            </a:r>
            <a:r>
              <a:rPr sz="1200" b="0" dirty="0">
                <a:solidFill>
                  <a:srgbClr val="7DD3FC"/>
                </a:solidFill>
                <a:latin typeface="Courier New"/>
              </a:rPr>
              <a:t>": 50,
    "</a:t>
            </a:r>
            <a:r>
              <a:rPr sz="1200" b="0" dirty="0" err="1">
                <a:solidFill>
                  <a:srgbClr val="7DD3FC"/>
                </a:solidFill>
                <a:latin typeface="Courier New"/>
              </a:rPr>
              <a:t>num_generations</a:t>
            </a:r>
            <a:r>
              <a:rPr sz="1200" b="0" dirty="0">
                <a:solidFill>
                  <a:srgbClr val="7DD3FC"/>
                </a:solidFill>
                <a:latin typeface="Courier New"/>
              </a:rPr>
              <a:t>": 100,
    "pc"             : 0.80,   # crossover probability
    "pm"             : 0.05,   # mutation prob (per gene)
    "elitism"        : 1,      # elites carried over
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2280" y="1005840"/>
            <a:ext cx="4983480" cy="896112"/>
          </a:xfrm>
          <a:prstGeom prst="rect">
            <a:avLst/>
          </a:prstGeom>
          <a:solidFill>
            <a:srgbClr val="0A2042"/>
          </a:solidFill>
          <a:ln w="1016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0296" y="1051560"/>
            <a:ext cx="4745736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D4FF"/>
                </a:solidFill>
                <a:latin typeface="Bierstadt" panose="020B0004020202020204" pitchFamily="34" charset="0"/>
              </a:rPr>
              <a:t>Population = 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1353312"/>
            <a:ext cx="47457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Bierstadt" panose="020B0004020202020204" pitchFamily="34" charset="0"/>
              </a:rPr>
              <a:t>Enough diversity without excessive compute time.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2280" y="2011680"/>
            <a:ext cx="4983480" cy="896112"/>
          </a:xfrm>
          <a:prstGeom prst="rect">
            <a:avLst/>
          </a:prstGeom>
          <a:solidFill>
            <a:srgbClr val="0A2042"/>
          </a:solidFill>
          <a:ln w="1016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40296" y="2057400"/>
            <a:ext cx="4745736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D4FF"/>
                </a:solidFill>
                <a:latin typeface="Bierstadt" panose="020B0004020202020204" pitchFamily="34" charset="0"/>
              </a:rPr>
              <a:t>Generations = 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6" y="2359152"/>
            <a:ext cx="47457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Bierstadt" panose="020B0004020202020204" pitchFamily="34" charset="0"/>
              </a:rPr>
              <a:t>Sufficient for full convergence on the Ackley landscape.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3017520"/>
            <a:ext cx="4983480" cy="896112"/>
          </a:xfrm>
          <a:prstGeom prst="rect">
            <a:avLst/>
          </a:prstGeom>
          <a:solidFill>
            <a:srgbClr val="0A2042"/>
          </a:solidFill>
          <a:ln w="1016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0296" y="3063240"/>
            <a:ext cx="4745736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D4FF"/>
                </a:solidFill>
                <a:latin typeface="Bierstadt" panose="020B0004020202020204" pitchFamily="34" charset="0"/>
              </a:rPr>
              <a:t>Pc = 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3364992"/>
            <a:ext cx="47457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Bierstadt" panose="020B0004020202020204" pitchFamily="34" charset="0"/>
              </a:rPr>
              <a:t>High crossover rate drives recombination of fit gene pairs.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2280" y="4023360"/>
            <a:ext cx="4983480" cy="896112"/>
          </a:xfrm>
          <a:prstGeom prst="rect">
            <a:avLst/>
          </a:prstGeom>
          <a:solidFill>
            <a:srgbClr val="0A2042"/>
          </a:solidFill>
          <a:ln w="1016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0296" y="4069080"/>
            <a:ext cx="4745736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D4FF"/>
                </a:solidFill>
                <a:latin typeface="Bierstadt" panose="020B0004020202020204" pitchFamily="34" charset="0"/>
              </a:rPr>
              <a:t>Pm = 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0296" y="4370832"/>
            <a:ext cx="47457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Bierstadt" panose="020B0004020202020204" pitchFamily="34" charset="0"/>
              </a:rPr>
              <a:t>Low mutation preserves good solutions while adding variation.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12280" y="5029200"/>
            <a:ext cx="4983480" cy="896112"/>
          </a:xfrm>
          <a:prstGeom prst="rect">
            <a:avLst/>
          </a:prstGeom>
          <a:solidFill>
            <a:srgbClr val="0A2042"/>
          </a:solidFill>
          <a:ln w="1016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40296" y="5074920"/>
            <a:ext cx="4745736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D4FF"/>
                </a:solidFill>
                <a:latin typeface="Bierstadt" panose="020B0004020202020204" pitchFamily="34" charset="0"/>
              </a:rPr>
              <a:t>Elitism =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0296" y="5376672"/>
            <a:ext cx="47457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CCD6E0"/>
                </a:solidFill>
                <a:latin typeface="Bierstadt" panose="020B0004020202020204" pitchFamily="34" charset="0"/>
              </a:rPr>
              <a:t>Best individual always survives to the next generation.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94592" y="647395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B8C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09728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1704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Bierstadt" panose="020B0004020202020204" pitchFamily="34" charset="0"/>
              </a:rPr>
              <a:t>Step 2 — Chromosome Representation  |  src/chromosome.py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61772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dirty="0">
                <a:solidFill>
                  <a:srgbClr val="A0B8C8"/>
                </a:solidFill>
                <a:latin typeface="Calibri"/>
              </a:rPr>
              <a:t>Value encoding: chromosome = [x₁, x₂] — two real floats directly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6583680" cy="3931920"/>
          </a:xfrm>
          <a:prstGeom prst="rect">
            <a:avLst/>
          </a:prstGeom>
          <a:solidFill>
            <a:srgbClr val="0A0F26"/>
          </a:solidFill>
          <a:ln w="1270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749808"/>
            <a:ext cx="6583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D4FF"/>
                </a:solidFill>
                <a:latin typeface="Courier New"/>
              </a:rPr>
              <a:t>  src/chromosome.py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97280"/>
            <a:ext cx="636422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DD3FC"/>
                </a:solidFill>
                <a:latin typeface="Courier New"/>
              </a:rPr>
              <a:t>from src.config import GA_PARAMS
def random_gene() -&gt; float:
    low, high = GA_PARAMS["gene_bounds"]   # (-5.0, 5.0)
    return random.uniform(low, high)
def random_chromosome() -&gt; list:
    """Full chromosome = [x1, x2]"""
    return [random_gene()
            for _ in range(GA_PARAMS["num_genes"])]
def is_within_bounds(chromosome) -&gt; bool:
    """Sanity-check all genes in [-5, 5]."""
    low, high = GA_PARAMS["gene_bounds"]
    return all(low &lt;= g &lt;= high for g in chromosome)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1005840"/>
            <a:ext cx="4773168" cy="877824"/>
          </a:xfrm>
          <a:prstGeom prst="rect">
            <a:avLst/>
          </a:prstGeom>
          <a:solidFill>
            <a:srgbClr val="081A38"/>
          </a:solidFill>
          <a:ln w="1016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68896" y="1051560"/>
            <a:ext cx="4535424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C107"/>
                </a:solidFill>
                <a:latin typeface="Bierstadt" panose="020B0004020202020204" pitchFamily="34" charset="0"/>
              </a:rPr>
              <a:t>Chromosome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68896" y="1353312"/>
            <a:ext cx="45354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Bierstadt" panose="020B0004020202020204" pitchFamily="34" charset="0"/>
              </a:rPr>
              <a:t>[ x₁,  x₂ ]   e.g.  [-1.5,  3.2]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0" y="1965960"/>
            <a:ext cx="4773168" cy="877824"/>
          </a:xfrm>
          <a:prstGeom prst="rect">
            <a:avLst/>
          </a:prstGeom>
          <a:solidFill>
            <a:srgbClr val="081A38"/>
          </a:solidFill>
          <a:ln w="1016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68896" y="2011680"/>
            <a:ext cx="4535424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C107"/>
                </a:solidFill>
                <a:latin typeface="Bierstadt" panose="020B0004020202020204" pitchFamily="34" charset="0"/>
              </a:rPr>
              <a:t>Gene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8896" y="2313432"/>
            <a:ext cx="45354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Bierstadt" panose="020B0004020202020204" pitchFamily="34" charset="0"/>
              </a:rPr>
              <a:t>One real float in [-5.0, 5.0]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2926080"/>
            <a:ext cx="4773168" cy="877824"/>
          </a:xfrm>
          <a:prstGeom prst="rect">
            <a:avLst/>
          </a:prstGeom>
          <a:solidFill>
            <a:srgbClr val="081A38"/>
          </a:solidFill>
          <a:ln w="1016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68896" y="2971800"/>
            <a:ext cx="4535424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C107"/>
                </a:solidFill>
                <a:latin typeface="Bierstadt" panose="020B0004020202020204" pitchFamily="34" charset="0"/>
              </a:rPr>
              <a:t>Why not binary?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8896" y="3273552"/>
            <a:ext cx="45354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Bierstadt" panose="020B0004020202020204" pitchFamily="34" charset="0"/>
              </a:rPr>
              <a:t>Binary needs encode/decode — wasteful for continuous reals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3886200"/>
            <a:ext cx="4773168" cy="877824"/>
          </a:xfrm>
          <a:prstGeom prst="rect">
            <a:avLst/>
          </a:prstGeom>
          <a:solidFill>
            <a:srgbClr val="081A38"/>
          </a:solidFill>
          <a:ln w="1016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68896" y="3931920"/>
            <a:ext cx="4535424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C107"/>
                </a:solidFill>
                <a:latin typeface="Bierstadt" panose="020B0004020202020204" pitchFamily="34" charset="0"/>
              </a:rPr>
              <a:t>Our choice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4233672"/>
            <a:ext cx="45354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Bierstadt" panose="020B0004020202020204" pitchFamily="34" charset="0"/>
              </a:rPr>
              <a:t>Direct real values — natural fit for Ackley's inputs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4846320"/>
            <a:ext cx="4773168" cy="877824"/>
          </a:xfrm>
          <a:prstGeom prst="rect">
            <a:avLst/>
          </a:prstGeom>
          <a:solidFill>
            <a:srgbClr val="081A38"/>
          </a:solidFill>
          <a:ln w="1016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68896" y="4892040"/>
            <a:ext cx="4535424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C107"/>
                </a:solidFill>
                <a:latin typeface="Bierstadt" panose="020B0004020202020204" pitchFamily="34" charset="0"/>
              </a:rPr>
              <a:t>Mutation ready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8896" y="5193792"/>
            <a:ext cx="45354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Bierstadt" panose="020B0004020202020204" pitchFamily="34" charset="0"/>
              </a:rPr>
              <a:t>Nudging a float: -1.5 → -1.1 (Gaussian jitter)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73473" y="5842349"/>
            <a:ext cx="8441878" cy="685800"/>
          </a:xfrm>
          <a:prstGeom prst="rect">
            <a:avLst/>
          </a:prstGeom>
          <a:solidFill>
            <a:srgbClr val="0A0F26"/>
          </a:solidFill>
          <a:ln w="1016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971738" y="5988042"/>
            <a:ext cx="83436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00D4FF"/>
                </a:solidFill>
                <a:latin typeface="Courier New"/>
              </a:rPr>
              <a:t>Population:  [ [-1.5, 3.2],  [0.7, -4.1],  [2.2, 0.9],  ...  ]   (50 total)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94592" y="647395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B8C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09728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1704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Bierstadt" panose="020B0004020202020204" pitchFamily="34" charset="0"/>
              </a:rPr>
              <a:t>Step 3 — Population Initialization  |  src/population.py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56083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dirty="0">
                <a:solidFill>
                  <a:srgbClr val="A0B8C8"/>
                </a:solidFill>
                <a:latin typeface="Calibri"/>
              </a:rPr>
              <a:t>Create Generation 0: 50 fully random, unbiased chromosomes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6583680" cy="4114800"/>
          </a:xfrm>
          <a:prstGeom prst="rect">
            <a:avLst/>
          </a:prstGeom>
          <a:solidFill>
            <a:srgbClr val="0A0F26"/>
          </a:solidFill>
          <a:ln w="1270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749808"/>
            <a:ext cx="6583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D4FF"/>
                </a:solidFill>
                <a:latin typeface="Courier New"/>
              </a:rPr>
              <a:t>  src/population.py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97280"/>
            <a:ext cx="6364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DD3FC"/>
                </a:solidFill>
                <a:latin typeface="Courier New"/>
              </a:rPr>
              <a:t>from src.config     import GA_PARAMS
from src.chromosome import random_chromosome
def initialize_population(pop_size=None, seed=None) -&gt; list:
    """Build Generation 0. Seed for reproducibility."""
    if seed is not None:
        random.seed(seed)      # reproducible run
    pop_size = GA_PARAMS["population_size"] \
               if pop_size is None else pop_size
    return [random_chromosome()
            for _ in range(pop_size)]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86600" y="1005840"/>
            <a:ext cx="4709160" cy="987552"/>
          </a:xfrm>
          <a:prstGeom prst="rect">
            <a:avLst/>
          </a:prstGeom>
          <a:solidFill>
            <a:srgbClr val="0A2042"/>
          </a:solidFill>
          <a:ln w="1016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14616" y="1051560"/>
            <a:ext cx="4471416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D4FF"/>
                </a:solidFill>
                <a:latin typeface="Bierstadt" panose="020B0004020202020204" pitchFamily="34" charset="0"/>
              </a:rPr>
              <a:t>Blind Initialization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14616" y="1353312"/>
            <a:ext cx="44714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Bierstadt" panose="020B0004020202020204" pitchFamily="34" charset="0"/>
              </a:rPr>
              <a:t>No bias toward (0,0). Progress must come from selection + crossover + mutation.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86600" y="2103120"/>
            <a:ext cx="4709160" cy="987552"/>
          </a:xfrm>
          <a:prstGeom prst="rect">
            <a:avLst/>
          </a:prstGeom>
          <a:solidFill>
            <a:srgbClr val="0A2042"/>
          </a:solidFill>
          <a:ln w="1016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214616" y="2148840"/>
            <a:ext cx="4471416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D4FF"/>
                </a:solidFill>
                <a:latin typeface="Bierstadt" panose="020B0004020202020204" pitchFamily="34" charset="0"/>
              </a:rPr>
              <a:t>Reproducibility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4616" y="2450592"/>
            <a:ext cx="44714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Bierstadt" panose="020B0004020202020204" pitchFamily="34" charset="0"/>
              </a:rPr>
              <a:t>seed=42 replays the exact same run for report examples and debugging.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3200400"/>
            <a:ext cx="4709160" cy="987552"/>
          </a:xfrm>
          <a:prstGeom prst="rect">
            <a:avLst/>
          </a:prstGeom>
          <a:solidFill>
            <a:srgbClr val="0A2042"/>
          </a:solidFill>
          <a:ln w="1016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14616" y="3246120"/>
            <a:ext cx="4471416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D4FF"/>
                </a:solidFill>
                <a:latin typeface="Bierstadt" panose="020B0004020202020204" pitchFamily="34" charset="0"/>
              </a:rPr>
              <a:t>Dependency chain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14616" y="3547872"/>
            <a:ext cx="44714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Bierstadt" panose="020B0004020202020204" pitchFamily="34" charset="0"/>
              </a:rPr>
              <a:t>Calls random_chromosome() → random_gene() → gene_bounds from config.py.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4297680"/>
            <a:ext cx="4709160" cy="987552"/>
          </a:xfrm>
          <a:prstGeom prst="rect">
            <a:avLst/>
          </a:prstGeom>
          <a:solidFill>
            <a:srgbClr val="0A2042"/>
          </a:solidFill>
          <a:ln w="1016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214616" y="4343400"/>
            <a:ext cx="4471416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D4FF"/>
                </a:solidFill>
                <a:latin typeface="Bierstadt" panose="020B0004020202020204" pitchFamily="34" charset="0"/>
              </a:rPr>
              <a:t>Output format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14616" y="4645152"/>
            <a:ext cx="44714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Bierstadt" panose="020B0004020202020204" pitchFamily="34" charset="0"/>
              </a:rPr>
              <a:t>list of 50 chromosomes:  [ [x1,x2], [x1,x2], ...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94592" y="647395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B8C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09728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1704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Bierstadt" panose="020B0004020202020204" pitchFamily="34" charset="0"/>
              </a:rPr>
              <a:t>Step 4 — Fitness Evaluation  |  src/ackley.py + src/fitness.py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6506" y="419507"/>
            <a:ext cx="1170432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0B8C8"/>
                </a:solidFill>
                <a:latin typeface="Bierstadt" panose="020B0004020202020204" pitchFamily="34" charset="0"/>
              </a:rPr>
              <a:t>Plug each [x₁,x₂] into the Ackley formula — lower score = fitter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5166360" cy="3520440"/>
          </a:xfrm>
          <a:prstGeom prst="rect">
            <a:avLst/>
          </a:prstGeom>
          <a:solidFill>
            <a:srgbClr val="0A0F26"/>
          </a:solidFill>
          <a:ln w="1270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749808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D4FF"/>
                </a:solidFill>
                <a:latin typeface="Courier New"/>
              </a:rPr>
              <a:t>  src/ackley.py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97280"/>
            <a:ext cx="4946904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DD3FC"/>
                </a:solidFill>
                <a:latin typeface="Courier New"/>
              </a:rPr>
              <a:t># src/ackley.py
def ackley_2d(x1, x2):
    a = GA_PARAMS["ackley_a"]  # 20.0
    b = GA_PARAMS["ackley_b"]  # 0.2
    c = GA_PARAMS["ackley_c"]  # 2pi
    t1 = -a * exp(
           -b * sqrt(0.5*(x1**2+x2**2)))
    t2 = -exp(
           0.5*(cos(c*x1)+cos(c*x2)))
    return t1 + t2 + a + e
    # ackley_2d(0, 0) == 0.0  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0" y="1005840"/>
            <a:ext cx="6126480" cy="3520440"/>
          </a:xfrm>
          <a:prstGeom prst="rect">
            <a:avLst/>
          </a:prstGeom>
          <a:solidFill>
            <a:srgbClr val="0A0F26"/>
          </a:solidFill>
          <a:ln w="1270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15000" y="749808"/>
            <a:ext cx="6126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D4FF"/>
                </a:solidFill>
                <a:latin typeface="Courier New"/>
              </a:rPr>
              <a:t>  src/fitness.py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4728" y="1097280"/>
            <a:ext cx="5907024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DD3FC"/>
                </a:solidFill>
                <a:latin typeface="Courier New"/>
              </a:rPr>
              <a:t># src/fitness.py
def evaluate_population(pop):
    return [ackley_2d(c[0], c[1])
            for c in pop]
def sort_population(pop, fit, ascending=True):
    paired = list(zip(pop, fit))
    paired.sort(key=lambda x: x[1],
                reverse=not ascending)
    return ([c for c,_ in paired],
            [f for _,f in paired])
def get_elite(pop, fit):
    sp, sf = sort_population(pop, fit)
    return sp[0], sf[0]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663440"/>
            <a:ext cx="3794760" cy="841248"/>
          </a:xfrm>
          <a:prstGeom prst="rect">
            <a:avLst/>
          </a:prstGeom>
          <a:solidFill>
            <a:srgbClr val="0A2042"/>
          </a:solidFill>
          <a:ln w="1016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471830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ourier New"/>
              </a:rPr>
              <a:t>evaluate_population()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5029200"/>
            <a:ext cx="35661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0"/>
                </a:solidFill>
                <a:latin typeface="Bierstadt" panose="020B0004020202020204" pitchFamily="34" charset="0"/>
              </a:rPr>
              <a:t>Returns list of Ackley scores; index i in fitness always matches index i in population.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4663440"/>
            <a:ext cx="3794760" cy="841248"/>
          </a:xfrm>
          <a:prstGeom prst="rect">
            <a:avLst/>
          </a:prstGeom>
          <a:solidFill>
            <a:srgbClr val="0A2042"/>
          </a:solidFill>
          <a:ln w="1016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07408" y="471830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ourier New"/>
              </a:rPr>
              <a:t>sort_population()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5029200"/>
            <a:ext cx="35661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0"/>
                </a:solidFill>
                <a:latin typeface="Bierstadt" panose="020B0004020202020204" pitchFamily="34" charset="0"/>
              </a:rPr>
              <a:t>Sorts ascending (lowest f first) so population[0] is best this generation.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4663440"/>
            <a:ext cx="3794760" cy="841248"/>
          </a:xfrm>
          <a:prstGeom prst="rect">
            <a:avLst/>
          </a:prstGeom>
          <a:solidFill>
            <a:srgbClr val="0A2042"/>
          </a:solidFill>
          <a:ln w="1016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39328" y="471830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ourier New"/>
              </a:rPr>
              <a:t>get_elite()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5029200"/>
            <a:ext cx="35661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0"/>
                </a:solidFill>
                <a:latin typeface="Bierstadt" panose="020B0004020202020204" pitchFamily="34" charset="0"/>
              </a:rPr>
              <a:t>Returns the single best in this generation. Best-ever tracking is done in ga.py.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94592" y="647395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B8C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09728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1704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Bierstadt" panose="020B0004020202020204" pitchFamily="34" charset="0"/>
              </a:rPr>
              <a:t>Step 5 — Roulette Wheel Selection  |  src/selection.py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57200"/>
            <a:ext cx="1170432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0B8C8"/>
                </a:solidFill>
                <a:latin typeface="Bierstadt" panose="020B0004020202020204" pitchFamily="34" charset="0"/>
              </a:rPr>
              <a:t>Lower Ackley fitness → bigger wheel slice → higher chance of being selected as parent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6537960" cy="5193792"/>
          </a:xfrm>
          <a:prstGeom prst="rect">
            <a:avLst/>
          </a:prstGeom>
          <a:solidFill>
            <a:srgbClr val="0A0F26"/>
          </a:solidFill>
          <a:ln w="1270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749808"/>
            <a:ext cx="6537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D4FF"/>
                </a:solidFill>
                <a:latin typeface="Courier New"/>
              </a:rPr>
              <a:t>  src/selection.py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97280"/>
            <a:ext cx="6318504" cy="5010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DD3FC"/>
                </a:solidFill>
                <a:latin typeface="Courier New"/>
              </a:rPr>
              <a:t>def roulette_wheel_selection(
        pop, fit, num_parents):
    max_f  = max(fit)
    sel    = [(max_f-f)+1e-10 for f in fit]
    total  = sum(sel)
    probs  = [v/total for v in sel]
    cum, cdist = 0.0, []
    for p in probs:
        cum += p; cdist.append(cum)
    selected = []
    for _ in range(num_parents):
        r = random.random()   # [0, 1)
        for i, cp in enumerate(cdist):
            if r &lt;= cp:
                selected.append(pop[i])
                break
    return selected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86600" y="1005840"/>
            <a:ext cx="4727448" cy="5193792"/>
          </a:xfrm>
          <a:prstGeom prst="rect">
            <a:avLst/>
          </a:prstGeom>
          <a:solidFill>
            <a:srgbClr val="081A38"/>
          </a:solidFill>
          <a:ln w="1524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42048" y="1097280"/>
            <a:ext cx="4480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107"/>
                </a:solidFill>
                <a:latin typeface="Bierstadt" panose="020B0004020202020204" pitchFamily="34" charset="0"/>
              </a:rPr>
              <a:t>How Roulette Wheel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2048" y="1572768"/>
            <a:ext cx="4407408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CD6E0"/>
                </a:solidFill>
                <a:latin typeface="Bierstadt" panose="020B0004020202020204" pitchFamily="34" charset="0"/>
              </a:rPr>
              <a:t>1.  Find max fitness in this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322576"/>
            <a:ext cx="4407408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CD6E0"/>
                </a:solidFill>
                <a:latin typeface="Bierstadt" panose="020B0004020202020204" pitchFamily="34" charset="0"/>
              </a:rPr>
              <a:t>2.  sel_valᵢ = (max_f − fᵢ) + 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2048" y="3072384"/>
            <a:ext cx="4407408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CD6E0"/>
                </a:solidFill>
                <a:latin typeface="Bierstadt" panose="020B0004020202020204" pitchFamily="34" charset="0"/>
              </a:rPr>
              <a:t>3.  Normalise → probabilities (sum = 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2048" y="3822192"/>
            <a:ext cx="4407408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CD6E0"/>
                </a:solidFill>
                <a:latin typeface="Bierstadt" panose="020B0004020202020204" pitchFamily="34" charset="0"/>
              </a:rPr>
              <a:t>4.  Build cumulative 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2048" y="4572000"/>
            <a:ext cx="440740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CD6E0"/>
                </a:solidFill>
                <a:latin typeface="Bierstadt" panose="020B0004020202020204" pitchFamily="34" charset="0"/>
              </a:rPr>
              <a:t>5.  Spin: draw r ∈ [0,1), pick first i
     where cum_prob ≥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2048" y="5321808"/>
            <a:ext cx="4407408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CD6E0"/>
                </a:solidFill>
                <a:latin typeface="Bierstadt" panose="020B0004020202020204" pitchFamily="34" charset="0"/>
              </a:rPr>
              <a:t>⇒  Lower Ackley value → larger slice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94592" y="647395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B8C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09728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1704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Bierstadt" panose="020B0004020202020204" pitchFamily="34" charset="0"/>
              </a:rPr>
              <a:t>Step 6 — 1-Point Crossover  |  src/operators.py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61772"/>
            <a:ext cx="1170432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0B8C8"/>
                </a:solidFill>
                <a:latin typeface="Bierstadt" panose="020B0004020202020204" pitchFamily="34" charset="0"/>
              </a:rPr>
              <a:t>Swap gene segments between two parents with probability Pc = 80%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6583680" cy="3520440"/>
          </a:xfrm>
          <a:prstGeom prst="rect">
            <a:avLst/>
          </a:prstGeom>
          <a:solidFill>
            <a:srgbClr val="0A0F26"/>
          </a:solidFill>
          <a:ln w="1270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749808"/>
            <a:ext cx="6583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D4FF"/>
                </a:solidFill>
                <a:latin typeface="Courier New"/>
              </a:rPr>
              <a:t>  src/operators.py — one_point_crossover()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97280"/>
            <a:ext cx="6364224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DD3FC"/>
                </a:solidFill>
                <a:latin typeface="Courier New"/>
              </a:rPr>
              <a:t>def one_point_crossover(p1, p2, pc=None):
    pc = pc or GA_PARAMS["pc"]   # 0.80
    if len(p1) &lt; 2 or random.random() &gt;= pc:
        return list(p1), list(p2)
    pt = random.randint(1, len(p1) - 1)
    child1 = p1[:pt] + p2[pt:]
    child2 = p2[:pt] + p1[pt:]
    return child1, child2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663440"/>
            <a:ext cx="6583680" cy="1024128"/>
          </a:xfrm>
          <a:prstGeom prst="rect">
            <a:avLst/>
          </a:prstGeom>
          <a:solidFill>
            <a:srgbClr val="0A0F26"/>
          </a:solidFill>
          <a:ln w="1016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4700016"/>
            <a:ext cx="63093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0D4FF"/>
                </a:solidFill>
                <a:latin typeface="Courier New"/>
              </a:rPr>
              <a:t>Parent 1: [-1.5, -1.0]     Parent 2: [3.2,  4.5]
          crossover at point=1 (between x1 and x2)
Child 1:  [-1.5,  4.5]     Child 2:  [3.2, -1.0]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1005840"/>
            <a:ext cx="4709160" cy="932688"/>
          </a:xfrm>
          <a:prstGeom prst="rect">
            <a:avLst/>
          </a:prstGeom>
          <a:solidFill>
            <a:srgbClr val="0A2042"/>
          </a:solidFill>
          <a:ln w="1016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14616" y="1051560"/>
            <a:ext cx="4471416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D4FF"/>
                </a:solidFill>
                <a:latin typeface="Bierstadt" panose="020B0004020202020204" pitchFamily="34" charset="0"/>
              </a:rPr>
              <a:t>Probability Pc = 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4616" y="1353312"/>
            <a:ext cx="44714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Bierstadt" panose="020B0004020202020204" pitchFamily="34" charset="0"/>
              </a:rPr>
              <a:t>80% of pairs undergo crossover; 20% pass unchanged.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2048255"/>
            <a:ext cx="4709160" cy="932688"/>
          </a:xfrm>
          <a:prstGeom prst="rect">
            <a:avLst/>
          </a:prstGeom>
          <a:solidFill>
            <a:srgbClr val="0A2042"/>
          </a:solidFill>
          <a:ln w="1016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214616" y="2093975"/>
            <a:ext cx="4471416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D4FF"/>
                </a:solidFill>
                <a:latin typeface="Bierstadt" panose="020B0004020202020204" pitchFamily="34" charset="0"/>
              </a:rPr>
              <a:t>2-gene chromosome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14616" y="2395727"/>
            <a:ext cx="44714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Bierstadt" panose="020B0004020202020204" pitchFamily="34" charset="0"/>
              </a:rPr>
              <a:t>Only one valid point: between x₁ and x₂ — always swaps x₂.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600" y="3090670"/>
            <a:ext cx="4709160" cy="932688"/>
          </a:xfrm>
          <a:prstGeom prst="rect">
            <a:avLst/>
          </a:prstGeom>
          <a:solidFill>
            <a:srgbClr val="0A2042"/>
          </a:solidFill>
          <a:ln w="1016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14616" y="3136390"/>
            <a:ext cx="4471416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D4FF"/>
                </a:solidFill>
                <a:latin typeface="Bierstadt" panose="020B0004020202020204" pitchFamily="34" charset="0"/>
              </a:rPr>
              <a:t>Immutability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14616" y="3438142"/>
            <a:ext cx="44714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Bierstadt" panose="020B0004020202020204" pitchFamily="34" charset="0"/>
              </a:rPr>
              <a:t>Parents never modified in-place — children are fresh list copies.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600" y="4133085"/>
            <a:ext cx="4709160" cy="932688"/>
          </a:xfrm>
          <a:prstGeom prst="rect">
            <a:avLst/>
          </a:prstGeom>
          <a:solidFill>
            <a:srgbClr val="0A2042"/>
          </a:solidFill>
          <a:ln w="1016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214616" y="4178805"/>
            <a:ext cx="4471416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D4FF"/>
                </a:solidFill>
                <a:latin typeface="Bierstadt" panose="020B0004020202020204" pitchFamily="34" charset="0"/>
              </a:rPr>
              <a:t>Why crossover?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4616" y="4480557"/>
            <a:ext cx="44714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Bierstadt" panose="020B0004020202020204" pitchFamily="34" charset="0"/>
              </a:rPr>
              <a:t>Recombines good gene values from two fit parents into offspring.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94592" y="647395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B8C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09728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1704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Bierstadt" panose="020B0004020202020204" pitchFamily="34" charset="0"/>
              </a:rPr>
              <a:t>Step 7 — Gaussian Mutation  |  src/operators.py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24323"/>
            <a:ext cx="1170432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dirty="0">
                <a:solidFill>
                  <a:srgbClr val="A0B8C8"/>
                </a:solidFill>
                <a:latin typeface="Bierstadt" panose="020B0004020202020204" pitchFamily="34" charset="0"/>
              </a:rPr>
              <a:t>Independently perturb each gene with probability Pm = 5%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6583680" cy="5166360"/>
          </a:xfrm>
          <a:prstGeom prst="rect">
            <a:avLst/>
          </a:prstGeom>
          <a:solidFill>
            <a:srgbClr val="0A0F26"/>
          </a:solidFill>
          <a:ln w="1270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749808"/>
            <a:ext cx="6583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D4FF"/>
                </a:solidFill>
                <a:latin typeface="Courier New"/>
              </a:rPr>
              <a:t>  src/operators.py — mutate()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97280"/>
            <a:ext cx="6364224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DD3FC"/>
                </a:solidFill>
                <a:latin typeface="Courier New"/>
              </a:rPr>
              <a:t>def mutate(chromosome, pm=None,
           method="gaussian", sigma=0.5):
    pm = pm or GA_PARAMS["pm"]   # 0.05
    low, high = GA_PARAMS["gene_bounds"]
    mutated = list(chromosome)   # copy!
    for i in range(len(mutated)):
        if random.random() &lt; pm:
            if method == "gaussian":
                val = mutated[i] + random.gauss(0, sigma)
            elif method == "uniform":
                val = random.uniform(low, high)
            mutated[i] = max(low, min(high, val))
    return mutated   # original unchanged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86600" y="1005840"/>
            <a:ext cx="4727448" cy="5166360"/>
          </a:xfrm>
          <a:prstGeom prst="rect">
            <a:avLst/>
          </a:prstGeom>
          <a:solidFill>
            <a:srgbClr val="081A38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42048" y="1097280"/>
            <a:ext cx="4480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  <a:latin typeface="Bierstadt" panose="020B0004020202020204" pitchFamily="34" charset="0"/>
              </a:rPr>
              <a:t>Mutation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2048" y="1554480"/>
            <a:ext cx="4498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D4FF"/>
                </a:solidFill>
                <a:latin typeface="Bierstadt" panose="020B0004020202020204" pitchFamily="34" charset="0"/>
              </a:rPr>
              <a:t>&gt;&gt; Per-gene, not per-chromosome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1828800"/>
            <a:ext cx="449884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0"/>
                </a:solidFill>
                <a:latin typeface="Bierstadt" panose="020B0004020202020204" pitchFamily="34" charset="0"/>
              </a:rPr>
              <a:t>Each of the 2 genes mutated independently. ~10% of all genes change per generation.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2048" y="2459736"/>
            <a:ext cx="4498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D4FF"/>
                </a:solidFill>
                <a:latin typeface="Bierstadt" panose="020B0004020202020204" pitchFamily="34" charset="0"/>
              </a:rPr>
              <a:t>&gt;&gt; Gaussian (default, sigma=0.5)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2048" y="2734056"/>
            <a:ext cx="449884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0"/>
                </a:solidFill>
                <a:latin typeface="Bierstadt" panose="020B0004020202020204" pitchFamily="34" charset="0"/>
              </a:rPr>
              <a:t>Small N(0,0.5) jitter — good for fine-tuning near the optimum.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2048" y="3364992"/>
            <a:ext cx="4498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D4FF"/>
                </a:solidFill>
                <a:latin typeface="Bierstadt" panose="020B0004020202020204" pitchFamily="34" charset="0"/>
              </a:rPr>
              <a:t>&gt;&gt; Uniform (alternative)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2048" y="3639312"/>
            <a:ext cx="449884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0"/>
                </a:solidFill>
                <a:latin typeface="Bierstadt" panose="020B0004020202020204" pitchFamily="34" charset="0"/>
              </a:rPr>
              <a:t>Resamples completely from [-5,5]. Useful to escape local minima.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2048" y="4270248"/>
            <a:ext cx="4498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D4FF"/>
                </a:solidFill>
                <a:latin typeface="Bierstadt" panose="020B0004020202020204" pitchFamily="34" charset="0"/>
              </a:rPr>
              <a:t>&gt;&gt; Boundary clamping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4544568"/>
            <a:ext cx="449884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0"/>
                </a:solidFill>
                <a:latin typeface="Bierstadt" panose="020B0004020202020204" pitchFamily="34" charset="0"/>
              </a:rPr>
              <a:t>val = max(-5, min(5, val)). is_within_bounds() always True after mutation.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8" y="5175504"/>
            <a:ext cx="4498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D4FF"/>
                </a:solidFill>
                <a:latin typeface="Bierstadt" panose="020B0004020202020204" pitchFamily="34" charset="0"/>
              </a:rPr>
              <a:t>&gt;&gt; Why mutation?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42048" y="5449824"/>
            <a:ext cx="449884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0"/>
                </a:solidFill>
                <a:latin typeface="Bierstadt" panose="020B0004020202020204" pitchFamily="34" charset="0"/>
              </a:rPr>
              <a:t>Maintains diversity; prevents premature convergence.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94592" y="647395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B8C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09728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170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Step 8 — Elitism &amp; New Population  |  src/operators.py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9507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dirty="0">
                <a:solidFill>
                  <a:srgbClr val="A0B8C8"/>
                </a:solidFill>
                <a:latin typeface="Calibri"/>
              </a:rPr>
              <a:t>Guarantee best-ever solution never dies; assemble next generation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5989320" cy="3383280"/>
          </a:xfrm>
          <a:prstGeom prst="rect">
            <a:avLst/>
          </a:prstGeom>
          <a:solidFill>
            <a:srgbClr val="0A0F26"/>
          </a:solidFill>
          <a:ln w="1270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749808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D4FF"/>
                </a:solidFill>
                <a:latin typeface="Courier New"/>
              </a:rPr>
              <a:t>  src/operators.py — apply_elitism()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97280"/>
            <a:ext cx="576986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def apply_elitism(old_pop, old_fit,
                  new_pop, new_fit, elitism=None):
    elitism = elitism or GA_PARAMS["elitism"]
    sp_o, sf_o = sort_population(old_pop, old_fit)
    sp_n, sf_n = sort_population(new_pop, new_fit)
    for k in range(elitism):
        worst = -(k + 1)
        if sf_o[k] &lt; sf_n[worst]:
            sp_n[worst] = list(sp_o[k])
            sf_n[worst] = sf_o[k]
    return sort_population(sp_n, sf_n)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005840"/>
            <a:ext cx="5239512" cy="3383280"/>
          </a:xfrm>
          <a:prstGeom prst="rect">
            <a:avLst/>
          </a:prstGeom>
          <a:solidFill>
            <a:srgbClr val="0A0F26"/>
          </a:solidFill>
          <a:ln w="1270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749808"/>
            <a:ext cx="5239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D4FF"/>
                </a:solidFill>
                <a:latin typeface="Courier New"/>
              </a:rPr>
              <a:t>  src/operators.py — create_new_population()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8" y="1097280"/>
            <a:ext cx="50200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def create_new_population(
        parents, population_size=None, ...):
    offspring = []; idx = 0
    while len(offspring) &lt; population_size:
        p1 = parents[idx % len(parents)]
        p2 = parents[(idx+1) % len(parents)]
        idx += 2
        c1, c2 = one_point_crossover(p1, p2)
        c1 = mutate(c1); c2 = mutate(c2)
        offspring.append(c1)
        if len(offspring) &lt; population_size:
            offspring.append(c2)
    return offspring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553712"/>
            <a:ext cx="11475720" cy="1572768"/>
          </a:xfrm>
          <a:prstGeom prst="rect">
            <a:avLst/>
          </a:prstGeom>
          <a:solidFill>
            <a:srgbClr val="062818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626864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  <a:latin typeface="Calibri"/>
              </a:rPr>
              <a:t>✅  Elitism Guarantees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92624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CD6E0"/>
                </a:solidFill>
                <a:latin typeface="Calibri"/>
              </a:rPr>
              <a:t>1. Best fitness can NEVER get worse (monotonic non-increasing convergence curve).
2. Population size stays exactly 50 — elite replaces the WORST if strictly better.
3. create_new_population() generates exactly pop_size offspring in round-robin order.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94592" y="647395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B8C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09728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1704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Bierstadt" panose="020B0004020202020204" pitchFamily="34" charset="0"/>
              </a:rPr>
              <a:t>Step 9 — Full GA Loop  |  src/ga.py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61772"/>
            <a:ext cx="1170432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0B8C8"/>
                </a:solidFill>
                <a:latin typeface="Bierstadt" panose="020B0004020202020204" pitchFamily="34" charset="0"/>
              </a:rPr>
              <a:t>run_ga() wires all modules and runs 100 generations from one function call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7726679" cy="5577840"/>
          </a:xfrm>
          <a:prstGeom prst="rect">
            <a:avLst/>
          </a:prstGeom>
          <a:solidFill>
            <a:srgbClr val="0A0F26"/>
          </a:solidFill>
          <a:ln w="1270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749808"/>
            <a:ext cx="7726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D4FF"/>
                </a:solidFill>
                <a:latin typeface="Courier New"/>
              </a:rPr>
              <a:t>  src/ga.py — run_ga()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97280"/>
            <a:ext cx="7507223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7DD3FC"/>
                </a:solidFill>
                <a:latin typeface="Courier New"/>
              </a:rPr>
              <a:t>def run_ga(seed=None):
    pop = initialize_population(
        pop_size=GA_PARAMS["population_size"], seed=seed)
    best_chr=None; best_fit=float("inf"); hist=[]
    for _ in range(GA_PARAMS["num_generations"]):
        fit = evaluate_population(pop)
        elite, ef = get_elite(pop, fit)
        if ef &lt; best_fit:
            best_chr=list(elite); best_fit=ef
        hist.append(best_fit)
        parents = roulette_wheel_selection(
            pop, fit, num_parents=GA_PARAMS["population_size"])
        offspring = create_new_population(
            parents, population_size=GA_PARAMS["population_size"],...)
        offit = evaluate_population(offspring)
        pop, fit = apply_elitism(
            pop, fit, offspring, offit,
            elitism=GA_PARAMS["elitism"])
    return {"best_chromosome": best_chr,
            "best_fitness":    best_fit,
            "fitness_history": hist,
            "population":      pop}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02752" y="1005840"/>
            <a:ext cx="3547872" cy="1024128"/>
          </a:xfrm>
          <a:prstGeom prst="rect">
            <a:avLst/>
          </a:prstGeom>
          <a:solidFill>
            <a:srgbClr val="0A2042"/>
          </a:solidFill>
          <a:ln w="1016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30768" y="1051560"/>
            <a:ext cx="3310128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D4FF"/>
                </a:solidFill>
                <a:latin typeface="Bierstadt" panose="020B0004020202020204" pitchFamily="34" charset="0"/>
              </a:rPr>
              <a:t>"best_chromosome"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1353312"/>
            <a:ext cx="33101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Bierstadt" panose="020B0004020202020204" pitchFamily="34" charset="0"/>
              </a:rPr>
              <a:t>[x₁, x₂] that achieved the lowest Ackley score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02752" y="2139696"/>
            <a:ext cx="3547872" cy="1024128"/>
          </a:xfrm>
          <a:prstGeom prst="rect">
            <a:avLst/>
          </a:prstGeom>
          <a:solidFill>
            <a:srgbClr val="0A2042"/>
          </a:solidFill>
          <a:ln w="1016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30768" y="2185416"/>
            <a:ext cx="3310128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D4FF"/>
                </a:solidFill>
                <a:latin typeface="Bierstadt" panose="020B0004020202020204" pitchFamily="34" charset="0"/>
              </a:rPr>
              <a:t>"best_fitness"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2487168"/>
            <a:ext cx="33101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Bierstadt" panose="020B0004020202020204" pitchFamily="34" charset="0"/>
              </a:rPr>
              <a:t>Lowest Ackley f value found across all 100 gens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02752" y="3273552"/>
            <a:ext cx="3547872" cy="1024128"/>
          </a:xfrm>
          <a:prstGeom prst="rect">
            <a:avLst/>
          </a:prstGeom>
          <a:solidFill>
            <a:srgbClr val="0A2042"/>
          </a:solidFill>
          <a:ln w="1016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30768" y="3319272"/>
            <a:ext cx="3310128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D4FF"/>
                </a:solidFill>
                <a:latin typeface="Bierstadt" panose="020B0004020202020204" pitchFamily="34" charset="0"/>
              </a:rPr>
              <a:t>"fitness_history"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3621024"/>
            <a:ext cx="33101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Bierstadt" panose="020B0004020202020204" pitchFamily="34" charset="0"/>
              </a:rPr>
              <a:t>List[float] of length 100 — the convergence curve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02752" y="4407408"/>
            <a:ext cx="3547872" cy="1024128"/>
          </a:xfrm>
          <a:prstGeom prst="rect">
            <a:avLst/>
          </a:prstGeom>
          <a:solidFill>
            <a:srgbClr val="0A2042"/>
          </a:solidFill>
          <a:ln w="1016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30768" y="4453128"/>
            <a:ext cx="3310128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D4FF"/>
                </a:solidFill>
                <a:latin typeface="Bierstadt" panose="020B0004020202020204" pitchFamily="34" charset="0"/>
              </a:rPr>
              <a:t>"population"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8" y="4754880"/>
            <a:ext cx="33101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Bierstadt" panose="020B0004020202020204" pitchFamily="34" charset="0"/>
              </a:rPr>
              <a:t>Final 50 chromosomes after generation 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94592" y="647395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B8C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09728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1704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Bierstadt" panose="020B0004020202020204" pitchFamily="34" charset="0"/>
              </a:rPr>
              <a:t>Output — Convergence Plot  |  analysis/output/convergence.png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9436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0B8C8"/>
                </a:solidFill>
                <a:latin typeface="Calibri"/>
              </a:rPr>
              <a:t>Best-so-far Ackley fitness vs. generation number — monotonically non-increasing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68680"/>
            <a:ext cx="11731752" cy="1828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0"/>
            <a:ext cx="7543800" cy="50749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38160" y="1005840"/>
            <a:ext cx="3675887" cy="950976"/>
          </a:xfrm>
          <a:prstGeom prst="rect">
            <a:avLst/>
          </a:prstGeom>
          <a:solidFill>
            <a:srgbClr val="0A2042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66176" y="1051560"/>
            <a:ext cx="3438143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D4FF"/>
                </a:solidFill>
                <a:latin typeface="Bierstadt" panose="020B0004020202020204" pitchFamily="34" charset="0"/>
              </a:rPr>
              <a:t>Generation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66176" y="1353312"/>
            <a:ext cx="34381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Bierstadt" panose="020B0004020202020204" pitchFamily="34" charset="0"/>
              </a:rPr>
              <a:t>Starts at ≈5.45 — random chromosomes far from origin scored poorly.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011680"/>
            <a:ext cx="3675887" cy="950976"/>
          </a:xfrm>
          <a:prstGeom prst="rect">
            <a:avLst/>
          </a:prstGeom>
          <a:solidFill>
            <a:srgbClr val="0A2042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66176" y="2057400"/>
            <a:ext cx="3438143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D4FF"/>
                </a:solidFill>
                <a:latin typeface="Bierstadt" panose="020B0004020202020204" pitchFamily="34" charset="0"/>
              </a:rPr>
              <a:t>Gen 1-15: Rapid Drop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6" y="2359152"/>
            <a:ext cx="34381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Bierstadt" panose="020B0004020202020204" pitchFamily="34" charset="0"/>
              </a:rPr>
              <a:t>Selection + crossover quickly concentrate fit individuals; fitness plunges.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3017520"/>
            <a:ext cx="3675887" cy="950976"/>
          </a:xfrm>
          <a:prstGeom prst="rect">
            <a:avLst/>
          </a:prstGeom>
          <a:solidFill>
            <a:srgbClr val="0A2042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66176" y="3063240"/>
            <a:ext cx="3438143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D4FF"/>
                </a:solidFill>
                <a:latin typeface="Bierstadt" panose="020B0004020202020204" pitchFamily="34" charset="0"/>
              </a:rPr>
              <a:t>Gen 15-45: Fine-Tune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3364992"/>
            <a:ext cx="34381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Bierstadt" panose="020B0004020202020204" pitchFamily="34" charset="0"/>
              </a:rPr>
              <a:t>Gaussian mutation refines solutions near (0,0); curve flattens gradually.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4023360"/>
            <a:ext cx="3675887" cy="950976"/>
          </a:xfrm>
          <a:prstGeom prst="rect">
            <a:avLst/>
          </a:prstGeom>
          <a:solidFill>
            <a:srgbClr val="0A2042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66176" y="4069080"/>
            <a:ext cx="3438143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D4FF"/>
                </a:solidFill>
                <a:latin typeface="Bierstadt" panose="020B0004020202020204" pitchFamily="34" charset="0"/>
              </a:rPr>
              <a:t>Gen 100: Final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4370832"/>
            <a:ext cx="34381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Bierstadt" panose="020B0004020202020204" pitchFamily="34" charset="0"/>
              </a:rPr>
              <a:t>Best fitness ≈0.0098. Chromosome [-0.00081, 0.00327] — near (0,0).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5029200"/>
            <a:ext cx="3675887" cy="950976"/>
          </a:xfrm>
          <a:prstGeom prst="rect">
            <a:avLst/>
          </a:prstGeom>
          <a:solidFill>
            <a:srgbClr val="0A2042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66176" y="5074920"/>
            <a:ext cx="3438143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D4FF"/>
                </a:solidFill>
                <a:latin typeface="Bierstadt" panose="020B0004020202020204" pitchFamily="34" charset="0"/>
              </a:rPr>
              <a:t>Monotonic Shape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6" y="5376672"/>
            <a:ext cx="34381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Bierstadt" panose="020B0004020202020204" pitchFamily="34" charset="0"/>
              </a:rPr>
              <a:t>Curve NEVER rises — guaranteed by elitism in apply_elitism().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94592" y="647395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B8C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09728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1704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Bierstadt" panose="020B0004020202020204" pitchFamily="34" charset="0"/>
              </a:rPr>
              <a:t>Output — Roulette-Wheel Selection  |  analysis/output/selection_wheel.png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9436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0B8C8"/>
                </a:solidFill>
                <a:latin typeface="Calibri"/>
              </a:rPr>
              <a:t>Visualises how inverse-fitness weighting assigns proportional selection slices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68680"/>
            <a:ext cx="11731752" cy="1828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election_whe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0"/>
            <a:ext cx="6400800" cy="53492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949440" y="1005840"/>
            <a:ext cx="4892040" cy="5349240"/>
          </a:xfrm>
          <a:prstGeom prst="rect">
            <a:avLst/>
          </a:prstGeom>
          <a:solidFill>
            <a:srgbClr val="081A38"/>
          </a:solidFill>
          <a:ln w="1524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4032" y="109728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107"/>
                </a:solidFill>
                <a:latin typeface="Bierstadt" panose="020B0004020202020204" pitchFamily="34" charset="0"/>
              </a:rPr>
              <a:t>How to Read This Chart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2" y="1572768"/>
            <a:ext cx="4590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Bierstadt" panose="020B0004020202020204" pitchFamily="34" charset="0"/>
              </a:rPr>
              <a:t>&gt;&gt; Transformation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2" y="1847088"/>
            <a:ext cx="45902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0"/>
                </a:solidFill>
                <a:latin typeface="Bierstadt" panose="020B0004020202020204" pitchFamily="34" charset="0"/>
              </a:rPr>
              <a:t>sel_val = (max_f − fᵢ) + ε. Lower f → bigger slice.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4032" y="2487168"/>
            <a:ext cx="4590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Bierstadt" panose="020B0004020202020204" pitchFamily="34" charset="0"/>
              </a:rPr>
              <a:t>&gt;&gt; Ind 8 (f=6.311): 33.2%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2761488"/>
            <a:ext cx="45902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0"/>
                </a:solidFill>
                <a:latin typeface="Bierstadt" panose="020B0004020202020204" pitchFamily="34" charset="0"/>
              </a:rPr>
              <a:t>Lowest fitness in sample → largest slice — most likely chosen as parent.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2" y="3401568"/>
            <a:ext cx="4590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Bierstadt" panose="020B0004020202020204" pitchFamily="34" charset="0"/>
              </a:rPr>
              <a:t>&gt;&gt; Ind 6 (f=7.337): 27.3%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3675888"/>
            <a:ext cx="45902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0"/>
                </a:solidFill>
                <a:latin typeface="Bierstadt" panose="020B0004020202020204" pitchFamily="34" charset="0"/>
              </a:rPr>
              <a:t>Second lowest fitness → second largest slice.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4315968"/>
            <a:ext cx="4590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Bierstadt" panose="020B0004020202020204" pitchFamily="34" charset="0"/>
              </a:rPr>
              <a:t>&gt;&gt; Ind 4+5 (≈11.6): 3.1%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2" y="4590288"/>
            <a:ext cx="45902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0"/>
                </a:solidFill>
                <a:latin typeface="Bierstadt" panose="020B0004020202020204" pitchFamily="34" charset="0"/>
              </a:rPr>
              <a:t>High Ackley values → tiny slices — rarely selected.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4032" y="5230368"/>
            <a:ext cx="4590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Bierstadt" panose="020B0004020202020204" pitchFamily="34" charset="0"/>
              </a:rPr>
              <a:t>&gt;&gt; ε = 1e-10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5504688"/>
            <a:ext cx="45902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0"/>
                </a:solidFill>
                <a:latin typeface="Bierstadt" panose="020B0004020202020204" pitchFamily="34" charset="0"/>
              </a:rPr>
              <a:t>Prevents any individual having exactly zero probability.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94592" y="647395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B8C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09728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1704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Bierstadt" panose="020B0004020202020204" pitchFamily="34" charset="0"/>
              </a:rPr>
              <a:t>Output — Parameter Sensitivity  |  analysis/output/parameter_comparison.png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94360"/>
            <a:ext cx="1170432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0B8C8"/>
                </a:solidFill>
                <a:latin typeface="Bierstadt" panose="020B0004020202020204" pitchFamily="34" charset="0"/>
              </a:rPr>
              <a:t>One-at-a-time experiments with seed=42 — isolates each parameter's effect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68680"/>
            <a:ext cx="11731752" cy="1828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pic>
        <p:nvPicPr>
          <p:cNvPr id="8" name="Picture 7" descr="paramet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0"/>
            <a:ext cx="7263417" cy="504281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35824" y="996696"/>
            <a:ext cx="1774981" cy="539496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0" y="1088136"/>
            <a:ext cx="172544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3E"/>
                </a:solidFill>
                <a:latin typeface="Bierstadt" panose="020B0004020202020204" pitchFamily="34" charset="0"/>
              </a:rPr>
              <a:t>Variant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20072" y="996696"/>
            <a:ext cx="825573" cy="539496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756648" y="1088136"/>
            <a:ext cx="7760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3E"/>
                </a:solidFill>
                <a:latin typeface="Bierstadt" panose="020B0004020202020204" pitchFamily="34" charset="0"/>
              </a:rPr>
              <a:t>Final Fitness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52760" y="996696"/>
            <a:ext cx="1444752" cy="539496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689336" y="1088136"/>
            <a:ext cx="1395218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D1B3E"/>
                </a:solidFill>
                <a:latin typeface="Bierstadt" panose="020B0004020202020204" pitchFamily="34" charset="0"/>
              </a:rPr>
              <a:t>Key Insight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35824" y="1536192"/>
            <a:ext cx="1774981" cy="539496"/>
          </a:xfrm>
          <a:prstGeom prst="rect">
            <a:avLst/>
          </a:prstGeom>
          <a:solidFill>
            <a:srgbClr val="0D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0" y="1627632"/>
            <a:ext cx="172544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Bierstadt" panose="020B0004020202020204" pitchFamily="34" charset="0"/>
              </a:rPr>
              <a:t>Baseline (our settings)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20072" y="1536192"/>
            <a:ext cx="825573" cy="539496"/>
          </a:xfrm>
          <a:prstGeom prst="rect">
            <a:avLst/>
          </a:prstGeom>
          <a:solidFill>
            <a:srgbClr val="0D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756648" y="1627632"/>
            <a:ext cx="7760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DE80"/>
                </a:solidFill>
                <a:latin typeface="Bierstadt" panose="020B0004020202020204" pitchFamily="34" charset="0"/>
              </a:rPr>
              <a:t>0.009841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52760" y="1536192"/>
            <a:ext cx="1444752" cy="539496"/>
          </a:xfrm>
          <a:prstGeom prst="rect">
            <a:avLst/>
          </a:prstGeom>
          <a:solidFill>
            <a:srgbClr val="0D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89336" y="1627632"/>
            <a:ext cx="139521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  <a:latin typeface="Bierstadt" panose="020B0004020202020204" pitchFamily="34" charset="0"/>
              </a:rPr>
              <a:t>Best — balanced trade-off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35824" y="2075688"/>
            <a:ext cx="1774981" cy="539496"/>
          </a:xfrm>
          <a:prstGeom prst="rect">
            <a:avLst/>
          </a:prstGeom>
          <a:solidFill>
            <a:srgbClr val="0A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0" y="2167128"/>
            <a:ext cx="172544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Bierstadt" panose="020B0004020202020204" pitchFamily="34" charset="0"/>
              </a:rPr>
              <a:t>Lower crossover pc=0.40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20072" y="2075688"/>
            <a:ext cx="825573" cy="539496"/>
          </a:xfrm>
          <a:prstGeom prst="rect">
            <a:avLst/>
          </a:prstGeom>
          <a:solidFill>
            <a:srgbClr val="0A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756648" y="2167128"/>
            <a:ext cx="7760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DE80"/>
                </a:solidFill>
                <a:latin typeface="Bierstadt" panose="020B0004020202020204" pitchFamily="34" charset="0"/>
              </a:rPr>
              <a:t>0.011393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52760" y="2075688"/>
            <a:ext cx="1444752" cy="539496"/>
          </a:xfrm>
          <a:prstGeom prst="rect">
            <a:avLst/>
          </a:prstGeom>
          <a:solidFill>
            <a:srgbClr val="0A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689336" y="2167128"/>
            <a:ext cx="139521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  <a:latin typeface="Bierstadt" panose="020B0004020202020204" pitchFamily="34" charset="0"/>
              </a:rPr>
              <a:t>Less mixing slows convergence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35824" y="2615184"/>
            <a:ext cx="1774981" cy="539496"/>
          </a:xfrm>
          <a:prstGeom prst="rect">
            <a:avLst/>
          </a:prstGeom>
          <a:solidFill>
            <a:srgbClr val="0D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0" y="2706624"/>
            <a:ext cx="172544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Bierstadt" panose="020B0004020202020204" pitchFamily="34" charset="0"/>
              </a:rPr>
              <a:t>Full crossover pc=1.00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20072" y="2615184"/>
            <a:ext cx="825573" cy="539496"/>
          </a:xfrm>
          <a:prstGeom prst="rect">
            <a:avLst/>
          </a:prstGeom>
          <a:solidFill>
            <a:srgbClr val="0D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756648" y="2706624"/>
            <a:ext cx="7760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DE80"/>
                </a:solidFill>
                <a:latin typeface="Bierstadt" panose="020B0004020202020204" pitchFamily="34" charset="0"/>
              </a:rPr>
              <a:t>0.010678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52760" y="2615184"/>
            <a:ext cx="1444752" cy="539496"/>
          </a:xfrm>
          <a:prstGeom prst="rect">
            <a:avLst/>
          </a:prstGeom>
          <a:solidFill>
            <a:srgbClr val="0D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689336" y="2706624"/>
            <a:ext cx="139521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  <a:latin typeface="Bierstadt" panose="020B0004020202020204" pitchFamily="34" charset="0"/>
              </a:rPr>
              <a:t>More mixing, similar result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35824" y="3154680"/>
            <a:ext cx="1774981" cy="539496"/>
          </a:xfrm>
          <a:prstGeom prst="rect">
            <a:avLst/>
          </a:prstGeom>
          <a:solidFill>
            <a:srgbClr val="0A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72400" y="3246120"/>
            <a:ext cx="172544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Bierstadt" panose="020B0004020202020204" pitchFamily="34" charset="0"/>
              </a:rPr>
              <a:t>Lower mutation pm=0.01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20072" y="3154680"/>
            <a:ext cx="825573" cy="539496"/>
          </a:xfrm>
          <a:prstGeom prst="rect">
            <a:avLst/>
          </a:prstGeom>
          <a:solidFill>
            <a:srgbClr val="0A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756648" y="3246120"/>
            <a:ext cx="7760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5555"/>
                </a:solidFill>
                <a:latin typeface="Bierstadt" panose="020B0004020202020204" pitchFamily="34" charset="0"/>
              </a:rPr>
              <a:t>0.073762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652760" y="3154680"/>
            <a:ext cx="1444752" cy="539496"/>
          </a:xfrm>
          <a:prstGeom prst="rect">
            <a:avLst/>
          </a:prstGeom>
          <a:solidFill>
            <a:srgbClr val="0A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689336" y="3246120"/>
            <a:ext cx="1395218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  <a:latin typeface="Bierstadt" panose="020B0004020202020204" pitchFamily="34" charset="0"/>
              </a:rPr>
              <a:t>Premature convergence — diversity lost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35824" y="3694176"/>
            <a:ext cx="1774981" cy="539496"/>
          </a:xfrm>
          <a:prstGeom prst="rect">
            <a:avLst/>
          </a:prstGeom>
          <a:solidFill>
            <a:srgbClr val="0D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772400" y="3785616"/>
            <a:ext cx="172544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Bierstadt" panose="020B0004020202020204" pitchFamily="34" charset="0"/>
              </a:rPr>
              <a:t>Higher mutation pm=0.20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20072" y="3694176"/>
            <a:ext cx="825573" cy="539496"/>
          </a:xfrm>
          <a:prstGeom prst="rect">
            <a:avLst/>
          </a:prstGeom>
          <a:solidFill>
            <a:srgbClr val="0D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756648" y="3785616"/>
            <a:ext cx="7760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DE80"/>
                </a:solidFill>
                <a:latin typeface="Bierstadt" panose="020B0004020202020204" pitchFamily="34" charset="0"/>
              </a:rPr>
              <a:t>0.006645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652760" y="3694176"/>
            <a:ext cx="1444752" cy="539496"/>
          </a:xfrm>
          <a:prstGeom prst="rect">
            <a:avLst/>
          </a:prstGeom>
          <a:solidFill>
            <a:srgbClr val="0D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689336" y="3785616"/>
            <a:ext cx="1395218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  <a:latin typeface="Bierstadt" panose="020B0004020202020204" pitchFamily="34" charset="0"/>
              </a:rPr>
              <a:t>More exploration helps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35824" y="4233672"/>
            <a:ext cx="1774981" cy="539496"/>
          </a:xfrm>
          <a:prstGeom prst="rect">
            <a:avLst/>
          </a:prstGeom>
          <a:solidFill>
            <a:srgbClr val="0A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772400" y="4325112"/>
            <a:ext cx="172544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Bierstadt" panose="020B0004020202020204" pitchFamily="34" charset="0"/>
              </a:rPr>
              <a:t>No elitism (elitism=0)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720072" y="4233672"/>
            <a:ext cx="825573" cy="539496"/>
          </a:xfrm>
          <a:prstGeom prst="rect">
            <a:avLst/>
          </a:prstGeom>
          <a:solidFill>
            <a:srgbClr val="0A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756648" y="4325112"/>
            <a:ext cx="7760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5555"/>
                </a:solidFill>
                <a:latin typeface="Bierstadt" panose="020B0004020202020204" pitchFamily="34" charset="0"/>
              </a:rPr>
              <a:t>0.076158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652760" y="4233672"/>
            <a:ext cx="1444752" cy="539496"/>
          </a:xfrm>
          <a:prstGeom prst="rect">
            <a:avLst/>
          </a:prstGeom>
          <a:solidFill>
            <a:srgbClr val="0A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0689336" y="4325112"/>
            <a:ext cx="139521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  <a:latin typeface="Bierstadt" panose="020B0004020202020204" pitchFamily="34" charset="0"/>
              </a:rPr>
              <a:t>Good solutions lost — worst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35824" y="4773168"/>
            <a:ext cx="1774981" cy="539496"/>
          </a:xfrm>
          <a:prstGeom prst="rect">
            <a:avLst/>
          </a:prstGeom>
          <a:solidFill>
            <a:srgbClr val="0D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72400" y="4864608"/>
            <a:ext cx="172544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Bierstadt" panose="020B0004020202020204" pitchFamily="34" charset="0"/>
              </a:rPr>
              <a:t>More elitism (elitism=3)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720072" y="4773168"/>
            <a:ext cx="825573" cy="539496"/>
          </a:xfrm>
          <a:prstGeom prst="rect">
            <a:avLst/>
          </a:prstGeom>
          <a:solidFill>
            <a:srgbClr val="0D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756648" y="4864608"/>
            <a:ext cx="7760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9944"/>
                </a:solidFill>
                <a:latin typeface="Bierstadt" panose="020B0004020202020204" pitchFamily="34" charset="0"/>
              </a:rPr>
              <a:t>0.015357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652760" y="4773168"/>
            <a:ext cx="1444752" cy="539496"/>
          </a:xfrm>
          <a:prstGeom prst="rect">
            <a:avLst/>
          </a:prstGeom>
          <a:solidFill>
            <a:srgbClr val="0D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689336" y="4864608"/>
            <a:ext cx="139521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  <a:latin typeface="Bierstadt" panose="020B0004020202020204" pitchFamily="34" charset="0"/>
              </a:rPr>
              <a:t>Reduces diversity slightly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594592" y="6473952"/>
            <a:ext cx="502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B8C8"/>
                </a:solidFill>
                <a:latin typeface="Bierstadt" panose="020B0004020202020204" pitchFamily="34" charset="0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09728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1704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Bierstadt" panose="020B0004020202020204" pitchFamily="34" charset="0"/>
              </a:rPr>
              <a:t>Results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94360"/>
            <a:ext cx="1170432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0B8C8"/>
                </a:solidFill>
                <a:latin typeface="Bierstadt" panose="020B0004020202020204" pitchFamily="34" charset="0"/>
              </a:rPr>
              <a:t>Genetic Algorithm successfully locates the global minimum of the 2D Ackley function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68680"/>
            <a:ext cx="11731752" cy="1828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11457432" cy="1417320"/>
          </a:xfrm>
          <a:prstGeom prst="rect">
            <a:avLst/>
          </a:prstGeom>
          <a:solidFill>
            <a:srgbClr val="062818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78992"/>
            <a:ext cx="109728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>
                <a:solidFill>
                  <a:srgbClr val="4ADE80"/>
                </a:solidFill>
                <a:latin typeface="Calibri"/>
              </a:rPr>
              <a:t>Final Best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81328"/>
            <a:ext cx="10972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Courier New"/>
              </a:rPr>
              <a:t>Best chromosome:  [-0.000811,  0.003273]  ≈  (0, 0)          Best fitness:  0.009841   (true minimum = 0.0)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78608"/>
            <a:ext cx="5605272" cy="1143000"/>
          </a:xfrm>
          <a:prstGeom prst="rect">
            <a:avLst/>
          </a:prstGeom>
          <a:solidFill>
            <a:srgbClr val="0A2042"/>
          </a:solidFill>
          <a:ln w="1016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0352" y="2642616"/>
            <a:ext cx="5330952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0D4FF"/>
                </a:solidFill>
                <a:latin typeface="Bierstadt" panose="020B0004020202020204" pitchFamily="34" charset="0"/>
              </a:rPr>
              <a:t>&gt;&gt; 99.8% fitness reduction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980944"/>
            <a:ext cx="53309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CD6E0"/>
                </a:solidFill>
                <a:latin typeface="Bierstadt" panose="020B0004020202020204" pitchFamily="34" charset="0"/>
              </a:rPr>
              <a:t>GA dropped from 5.45 → 0.0098 over 100 generations — chromosome virtually identical to (0,0).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2578608"/>
            <a:ext cx="5605272" cy="1143000"/>
          </a:xfrm>
          <a:prstGeom prst="rect">
            <a:avLst/>
          </a:prstGeom>
          <a:solidFill>
            <a:srgbClr val="0A2042"/>
          </a:solidFill>
          <a:ln w="1016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64224" y="2642616"/>
            <a:ext cx="5330952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0D4FF"/>
                </a:solidFill>
                <a:latin typeface="Bierstadt" panose="020B0004020202020204" pitchFamily="34" charset="0"/>
              </a:rPr>
              <a:t>&gt;&gt; Elitism is critical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980944"/>
            <a:ext cx="53309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0"/>
                </a:solidFill>
                <a:latin typeface="Bierstadt" panose="020B0004020202020204" pitchFamily="34" charset="0"/>
              </a:rPr>
              <a:t>Removing elitism degraded result 7.7× to 0.076. Elitism protects best-ever from crossover/mutation damage.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31336"/>
            <a:ext cx="5605272" cy="1143000"/>
          </a:xfrm>
          <a:prstGeom prst="rect">
            <a:avLst/>
          </a:prstGeom>
          <a:solidFill>
            <a:srgbClr val="0A2042"/>
          </a:solidFill>
          <a:ln w="1016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0352" y="3895344"/>
            <a:ext cx="5330952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0D4FF"/>
                </a:solidFill>
                <a:latin typeface="Bierstadt" panose="020B0004020202020204" pitchFamily="34" charset="0"/>
              </a:rPr>
              <a:t>&gt;&gt; Mutation balance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4233672"/>
            <a:ext cx="53309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0"/>
                </a:solidFill>
                <a:latin typeface="Bierstadt" panose="020B0004020202020204" pitchFamily="34" charset="0"/>
              </a:rPr>
              <a:t>pm=0.01 caused premature convergence at 0.074. Default pm=5% maintains diversity without disrupting good solutions.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3831336"/>
            <a:ext cx="5605272" cy="1143000"/>
          </a:xfrm>
          <a:prstGeom prst="rect">
            <a:avLst/>
          </a:prstGeom>
          <a:solidFill>
            <a:srgbClr val="0A2042"/>
          </a:solidFill>
          <a:ln w="1016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64224" y="3895344"/>
            <a:ext cx="5330952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0D4FF"/>
                </a:solidFill>
                <a:latin typeface="Bierstadt" panose="020B0004020202020204" pitchFamily="34" charset="0"/>
              </a:rPr>
              <a:t>&gt;&gt; Value encoding works well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4233672"/>
            <a:ext cx="53309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0"/>
                </a:solidFill>
                <a:latin typeface="Bierstadt" panose="020B0004020202020204" pitchFamily="34" charset="0"/>
              </a:rPr>
              <a:t>Real-valued [x₁,x₂] enabled Gaussian mutation naturally. Binary encoding would add unnecessary quantization overhead.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84064"/>
            <a:ext cx="11457432" cy="1143000"/>
          </a:xfrm>
          <a:prstGeom prst="rect">
            <a:avLst/>
          </a:prstGeom>
          <a:solidFill>
            <a:srgbClr val="0A2042"/>
          </a:solidFill>
          <a:ln w="1016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ierstadt" panose="020B00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0352" y="5148072"/>
            <a:ext cx="11183112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0D4FF"/>
                </a:solidFill>
                <a:latin typeface="Bierstadt" panose="020B0004020202020204" pitchFamily="34" charset="0"/>
              </a:rPr>
              <a:t>&gt;&gt; Convergence in ~45 generations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5486400"/>
            <a:ext cx="111831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0"/>
                </a:solidFill>
                <a:latin typeface="Bierstadt" panose="020B0004020202020204" pitchFamily="34" charset="0"/>
              </a:rPr>
              <a:t>Most improvement in gen 1-45. Generations 45-100 fine-tune near-optimal solutions with diminishing returns.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94592" y="647395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B8C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3538</Words>
  <Application>Microsoft Office PowerPoint</Application>
  <PresentationFormat>Custom</PresentationFormat>
  <Paragraphs>248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Bierstadt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Asique Ehety</cp:lastModifiedBy>
  <cp:revision>5</cp:revision>
  <dcterms:created xsi:type="dcterms:W3CDTF">2013-01-27T09:14:16Z</dcterms:created>
  <dcterms:modified xsi:type="dcterms:W3CDTF">2026-09-12T20:52:44Z</dcterms:modified>
  <cp:category/>
</cp:coreProperties>
</file>